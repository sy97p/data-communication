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0" r:id="rId2"/>
  </p:sldMasterIdLst>
  <p:notesMasterIdLst>
    <p:notesMasterId r:id="rId9"/>
  </p:notesMasterIdLst>
  <p:handoutMasterIdLst>
    <p:handoutMasterId r:id="rId10"/>
  </p:handoutMasterIdLst>
  <p:sldIdLst>
    <p:sldId id="346" r:id="rId3"/>
    <p:sldId id="502" r:id="rId4"/>
    <p:sldId id="521" r:id="rId5"/>
    <p:sldId id="535" r:id="rId6"/>
    <p:sldId id="522" r:id="rId7"/>
    <p:sldId id="523" r:id="rId8"/>
  </p:sldIdLst>
  <p:sldSz cx="9144000" cy="6858000" type="screen4x3"/>
  <p:notesSz cx="7099300" cy="10234613"/>
  <p:defaultTextStyle>
    <a:defPPr>
      <a:defRPr lang="ko-KR"/>
    </a:defPPr>
    <a:lvl1pPr algn="l" rtl="0" fontAlgn="ctr" latinLnBrk="1">
      <a:lnSpc>
        <a:spcPct val="140000"/>
      </a:lnSpc>
      <a:spcBef>
        <a:spcPct val="20000"/>
      </a:spcBef>
      <a:spcAft>
        <a:spcPct val="0"/>
      </a:spcAft>
      <a:buClr>
        <a:srgbClr val="660066"/>
      </a:buClr>
      <a:buFont typeface="Wingdings" pitchFamily="2" charset="2"/>
      <a:buChar char="v"/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1pPr>
    <a:lvl2pPr marL="457200" algn="l" rtl="0" fontAlgn="ctr" latinLnBrk="1">
      <a:lnSpc>
        <a:spcPct val="140000"/>
      </a:lnSpc>
      <a:spcBef>
        <a:spcPct val="20000"/>
      </a:spcBef>
      <a:spcAft>
        <a:spcPct val="0"/>
      </a:spcAft>
      <a:buClr>
        <a:srgbClr val="660066"/>
      </a:buClr>
      <a:buFont typeface="Wingdings" pitchFamily="2" charset="2"/>
      <a:buChar char="v"/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2pPr>
    <a:lvl3pPr marL="914400" algn="l" rtl="0" fontAlgn="ctr" latinLnBrk="1">
      <a:lnSpc>
        <a:spcPct val="140000"/>
      </a:lnSpc>
      <a:spcBef>
        <a:spcPct val="20000"/>
      </a:spcBef>
      <a:spcAft>
        <a:spcPct val="0"/>
      </a:spcAft>
      <a:buClr>
        <a:srgbClr val="660066"/>
      </a:buClr>
      <a:buFont typeface="Wingdings" pitchFamily="2" charset="2"/>
      <a:buChar char="v"/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3pPr>
    <a:lvl4pPr marL="1371600" algn="l" rtl="0" fontAlgn="ctr" latinLnBrk="1">
      <a:lnSpc>
        <a:spcPct val="140000"/>
      </a:lnSpc>
      <a:spcBef>
        <a:spcPct val="20000"/>
      </a:spcBef>
      <a:spcAft>
        <a:spcPct val="0"/>
      </a:spcAft>
      <a:buClr>
        <a:srgbClr val="660066"/>
      </a:buClr>
      <a:buFont typeface="Wingdings" pitchFamily="2" charset="2"/>
      <a:buChar char="v"/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4pPr>
    <a:lvl5pPr marL="1828800" algn="l" rtl="0" fontAlgn="ctr" latinLnBrk="1">
      <a:lnSpc>
        <a:spcPct val="140000"/>
      </a:lnSpc>
      <a:spcBef>
        <a:spcPct val="20000"/>
      </a:spcBef>
      <a:spcAft>
        <a:spcPct val="0"/>
      </a:spcAft>
      <a:buClr>
        <a:srgbClr val="660066"/>
      </a:buClr>
      <a:buFont typeface="Wingdings" pitchFamily="2" charset="2"/>
      <a:buChar char="v"/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Trebuchet MS" pitchFamily="34" charset="0"/>
        <a:ea typeface="굴림체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5D0"/>
    <a:srgbClr val="6095CA"/>
    <a:srgbClr val="B2B2B2"/>
    <a:srgbClr val="FF0000"/>
    <a:srgbClr val="DDDDDD"/>
    <a:srgbClr val="FF9933"/>
    <a:srgbClr val="CC99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1" autoAdjust="0"/>
    <p:restoredTop sz="79682" autoAdjust="0"/>
  </p:normalViewPr>
  <p:slideViewPr>
    <p:cSldViewPr>
      <p:cViewPr varScale="1">
        <p:scale>
          <a:sx n="115" d="100"/>
          <a:sy n="115" d="100"/>
        </p:scale>
        <p:origin x="1560" y="102"/>
      </p:cViewPr>
      <p:guideLst>
        <p:guide orient="horz" pos="293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475" cy="512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t" anchorCtr="0" compatLnSpc="1">
            <a:prstTxWarp prst="textNoShape">
              <a:avLst/>
            </a:prstTxWarp>
          </a:bodyPr>
          <a:lstStyle>
            <a:lvl1pPr defTabSz="945396" fontAlgn="base">
              <a:lnSpc>
                <a:spcPct val="160000"/>
              </a:lnSpc>
              <a:spcBef>
                <a:spcPct val="40000"/>
              </a:spcBef>
              <a:buFont typeface="Wingdings" pitchFamily="2" charset="2"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827" y="0"/>
            <a:ext cx="3076473" cy="512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t" anchorCtr="0" compatLnSpc="1">
            <a:prstTxWarp prst="textNoShape">
              <a:avLst/>
            </a:prstTxWarp>
          </a:bodyPr>
          <a:lstStyle>
            <a:lvl1pPr algn="r" defTabSz="945396" fontAlgn="base">
              <a:lnSpc>
                <a:spcPct val="160000"/>
              </a:lnSpc>
              <a:spcBef>
                <a:spcPct val="40000"/>
              </a:spcBef>
              <a:buFont typeface="Wingdings" pitchFamily="2" charset="2"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901"/>
            <a:ext cx="3076475" cy="51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b" anchorCtr="0" compatLnSpc="1">
            <a:prstTxWarp prst="textNoShape">
              <a:avLst/>
            </a:prstTxWarp>
          </a:bodyPr>
          <a:lstStyle>
            <a:lvl1pPr defTabSz="945396" fontAlgn="base">
              <a:lnSpc>
                <a:spcPct val="160000"/>
              </a:lnSpc>
              <a:spcBef>
                <a:spcPct val="40000"/>
              </a:spcBef>
              <a:buFont typeface="Wingdings" pitchFamily="2" charset="2"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827" y="9721901"/>
            <a:ext cx="3076473" cy="51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b" anchorCtr="0" compatLnSpc="1">
            <a:prstTxWarp prst="textNoShape">
              <a:avLst/>
            </a:prstTxWarp>
          </a:bodyPr>
          <a:lstStyle>
            <a:lvl1pPr algn="r" defTabSz="945396" fontAlgn="base">
              <a:lnSpc>
                <a:spcPct val="160000"/>
              </a:lnSpc>
              <a:spcBef>
                <a:spcPct val="40000"/>
              </a:spcBef>
              <a:buFont typeface="Wingdings" pitchFamily="2" charset="2"/>
              <a:buNone/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56E4BE81-5EF3-479A-9A7C-A712BF9B92B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3599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475" cy="512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t" anchorCtr="0" compatLnSpc="1">
            <a:prstTxWarp prst="textNoShape">
              <a:avLst/>
            </a:prstTxWarp>
          </a:bodyPr>
          <a:lstStyle>
            <a:lvl1pPr defTabSz="945396" fontAlgn="base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827" y="0"/>
            <a:ext cx="3076473" cy="512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t" anchorCtr="0" compatLnSpc="1">
            <a:prstTxWarp prst="textNoShape">
              <a:avLst/>
            </a:prstTxWarp>
          </a:bodyPr>
          <a:lstStyle>
            <a:lvl1pPr algn="r" defTabSz="945396" fontAlgn="base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352" y="4861769"/>
            <a:ext cx="5206596" cy="4604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901"/>
            <a:ext cx="3076475" cy="51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b" anchorCtr="0" compatLnSpc="1">
            <a:prstTxWarp prst="textNoShape">
              <a:avLst/>
            </a:prstTxWarp>
          </a:bodyPr>
          <a:lstStyle>
            <a:lvl1pPr defTabSz="945396" fontAlgn="base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827" y="9721901"/>
            <a:ext cx="3076473" cy="51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5" tIns="47282" rIns="94565" bIns="47282" numCol="1" anchor="b" anchorCtr="0" compatLnSpc="1">
            <a:prstTxWarp prst="textNoShape">
              <a:avLst/>
            </a:prstTxWarp>
          </a:bodyPr>
          <a:lstStyle>
            <a:lvl1pPr algn="r" defTabSz="945396" fontAlgn="base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B30816A-BEEE-42D3-A466-AFB4EBC600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0667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689B7D-807A-4A74-B38C-814DD3D78871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4888" y="798513"/>
            <a:ext cx="5116512" cy="3836987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013" y="4840475"/>
            <a:ext cx="5209917" cy="4596403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65EE0C-E470-49D7-84F5-18F5D43119DD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4888" y="798513"/>
            <a:ext cx="5116512" cy="3836987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013" y="4840475"/>
            <a:ext cx="5209917" cy="4596403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65EE0C-E470-49D7-84F5-18F5D43119DD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4888" y="798513"/>
            <a:ext cx="5116512" cy="3836987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013" y="4840475"/>
            <a:ext cx="5209917" cy="4596403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84D88F-72CA-40DF-A55A-AB64E9621B1F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4888" y="798513"/>
            <a:ext cx="5116512" cy="3836987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013" y="4840475"/>
            <a:ext cx="5209917" cy="4596403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4C19A8-293E-4EA7-B358-5C43AD9FE3A4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4888" y="798513"/>
            <a:ext cx="5116512" cy="3836987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013" y="4840475"/>
            <a:ext cx="5209917" cy="4596403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7491C4A6-7ED6-4AB6-A716-CB76B96010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95380DEF-C882-419F-8329-04302D9343F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7D365F3C-673D-479B-9D30-9564BF04AB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510DE312-BD4A-4E99-A804-F12F299743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95A9E110-0464-45DA-A61C-D998EA10F6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5B8E7A88-EA6D-4214-94DF-09D70BD8C64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73DC5510-BEF9-4FEE-A03D-E9DF4F4E6B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B06A2191-08B9-4843-BA75-06B0E80B497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68963570-71A9-447F-9D7D-185CDC07629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8C54077A-2109-4270-9096-E5246A0002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9691EB6D-A5F5-4102-848B-FE8B80EA97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Rectangle 1052"/>
          <p:cNvSpPr>
            <a:spLocks noChangeArrowheads="1"/>
          </p:cNvSpPr>
          <p:nvPr userDrawn="1"/>
        </p:nvSpPr>
        <p:spPr bwMode="auto">
          <a:xfrm>
            <a:off x="11113" y="6532563"/>
            <a:ext cx="9132887" cy="352425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64013" y="6584950"/>
            <a:ext cx="82708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base">
              <a:lnSpc>
                <a:spcPct val="90000"/>
              </a:lnSpc>
              <a:spcBef>
                <a:spcPct val="0"/>
              </a:spcBef>
              <a:buClrTx/>
              <a:buFontTx/>
              <a:buNone/>
              <a:defRPr sz="1200" b="0" smtClean="0">
                <a:solidFill>
                  <a:schemeClr val="accent2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Page </a:t>
            </a:r>
            <a:fld id="{90DCE4E3-7BEC-4291-A7F0-0110A7FAE9C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750888"/>
          </a:xfrm>
          <a:prstGeom prst="rect">
            <a:avLst/>
          </a:prstGeom>
          <a:gradFill rotWithShape="1">
            <a:gsLst>
              <a:gs pos="0">
                <a:srgbClr val="333399"/>
              </a:gs>
              <a:gs pos="100000">
                <a:srgbClr val="333399">
                  <a:gamma/>
                  <a:tint val="5098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2081" name="Line 1057"/>
          <p:cNvSpPr>
            <a:spLocks noChangeShapeType="1"/>
          </p:cNvSpPr>
          <p:nvPr userDrawn="1"/>
        </p:nvSpPr>
        <p:spPr bwMode="auto">
          <a:xfrm>
            <a:off x="0" y="6524625"/>
            <a:ext cx="9144000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/>
            <a:tailEnd/>
          </a:ln>
          <a:effectLst/>
        </p:spPr>
        <p:txBody>
          <a:bodyPr lIns="36000" tIns="36000" rIns="36000" bIns="36000" anchor="ctr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082" name="AutoShape 1058"/>
          <p:cNvSpPr>
            <a:spLocks noChangeArrowheads="1"/>
          </p:cNvSpPr>
          <p:nvPr userDrawn="1"/>
        </p:nvSpPr>
        <p:spPr bwMode="auto">
          <a:xfrm>
            <a:off x="6516688" y="476250"/>
            <a:ext cx="2627312" cy="538163"/>
          </a:xfrm>
          <a:prstGeom prst="roundRect">
            <a:avLst>
              <a:gd name="adj" fmla="val 29204"/>
            </a:avLst>
          </a:prstGeom>
          <a:solidFill>
            <a:schemeClr val="bg1"/>
          </a:solidFill>
          <a:ln w="12700">
            <a:noFill/>
            <a:round/>
            <a:headEnd/>
            <a:tailEnd/>
          </a:ln>
          <a:effectLst/>
        </p:spPr>
        <p:txBody>
          <a:bodyPr lIns="36000" tIns="36000" rIns="36000" bIns="36000" anchor="ctr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083" name="Rectangle 1059"/>
          <p:cNvSpPr>
            <a:spLocks noChangeArrowheads="1"/>
          </p:cNvSpPr>
          <p:nvPr userDrawn="1"/>
        </p:nvSpPr>
        <p:spPr bwMode="auto">
          <a:xfrm>
            <a:off x="8316913" y="487363"/>
            <a:ext cx="827087" cy="2159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lIns="36000" tIns="36000" rIns="36000" bIns="36000" anchor="ctr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086" name="Rectangle 1062"/>
          <p:cNvSpPr>
            <a:spLocks noChangeArrowheads="1"/>
          </p:cNvSpPr>
          <p:nvPr userDrawn="1"/>
        </p:nvSpPr>
        <p:spPr bwMode="auto">
          <a:xfrm>
            <a:off x="165100" y="173038"/>
            <a:ext cx="6135688" cy="463550"/>
          </a:xfrm>
          <a:prstGeom prst="rect">
            <a:avLst/>
          </a:prstGeom>
          <a:solidFill>
            <a:srgbClr val="A6C7EC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A6C7EC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pic>
        <p:nvPicPr>
          <p:cNvPr id="1033" name="Picture 1063" descr="PE01522_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46050" y="71438"/>
            <a:ext cx="53657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069" descr="컴퓨터과학과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5875" y="6542088"/>
            <a:ext cx="8778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6" name="Text Box 1072"/>
          <p:cNvSpPr txBox="1">
            <a:spLocks noChangeArrowheads="1"/>
          </p:cNvSpPr>
          <p:nvPr userDrawn="1"/>
        </p:nvSpPr>
        <p:spPr bwMode="auto">
          <a:xfrm>
            <a:off x="7704138" y="6611435"/>
            <a:ext cx="1439862" cy="15658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ko-KR" sz="1100" b="0" i="1" dirty="0" smtClean="0">
                <a:solidFill>
                  <a:srgbClr val="660066"/>
                </a:solidFill>
                <a:ea typeface="굴림" pitchFamily="50" charset="-127"/>
              </a:rPr>
              <a:t>Data Communications</a:t>
            </a:r>
            <a:endParaRPr lang="en-US" altLang="ko-KR" sz="1100" b="0" i="1" dirty="0">
              <a:solidFill>
                <a:srgbClr val="660066"/>
              </a:solidFill>
              <a:ea typeface="굴림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0" descr="1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59875" cy="686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Text Box 3"/>
          <p:cNvSpPr txBox="1">
            <a:spLocks noChangeArrowheads="1"/>
          </p:cNvSpPr>
          <p:nvPr/>
        </p:nvSpPr>
        <p:spPr bwMode="auto">
          <a:xfrm>
            <a:off x="4140200" y="5516563"/>
            <a:ext cx="4681538" cy="56630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base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altLang="ko-KR" sz="14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2020</a:t>
            </a:r>
            <a:r>
              <a:rPr lang="ko-KR" altLang="en-US" sz="14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년 </a:t>
            </a:r>
            <a:r>
              <a:rPr lang="ko-KR" altLang="en-US" sz="1400" b="0" dirty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봄</a:t>
            </a:r>
            <a:r>
              <a:rPr lang="ko-KR" altLang="en-US" sz="14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학기</a:t>
            </a:r>
            <a:endParaRPr lang="en-US" altLang="ko-KR" sz="1400" b="0" dirty="0" smtClean="0">
              <a:effectLst>
                <a:outerShdw blurRad="38100" dist="38100" dir="2700000" algn="tl">
                  <a:srgbClr val="C0C0C0"/>
                </a:outerShdw>
              </a:effectLst>
              <a:ea typeface="HY헤드라인M" pitchFamily="18" charset="-127"/>
            </a:endParaRPr>
          </a:p>
          <a:p>
            <a:pPr algn="r" fontAlgn="base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ko-KR" altLang="en-US" sz="14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강원대학교 </a:t>
            </a:r>
            <a:r>
              <a:rPr lang="ko-KR" altLang="en-US" sz="1400" b="0" dirty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컴퓨터과학전공 </a:t>
            </a:r>
            <a:r>
              <a:rPr lang="ko-KR" altLang="en-US" sz="14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최미정</a:t>
            </a:r>
            <a:endParaRPr lang="ko-KR" altLang="en-US" sz="1400" b="0" dirty="0">
              <a:effectLst>
                <a:outerShdw blurRad="38100" dist="38100" dir="2700000" algn="tl">
                  <a:srgbClr val="C0C0C0"/>
                </a:outerShdw>
              </a:effectLst>
              <a:ea typeface="HY헤드라인M" pitchFamily="18" charset="-127"/>
            </a:endParaRP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323529" y="2258795"/>
            <a:ext cx="8498210" cy="129266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292100" indent="-292100" algn="ctr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  <a:tabLst>
                <a:tab pos="292100" algn="l"/>
                <a:tab pos="685800" algn="l"/>
              </a:tabLst>
              <a:defRPr/>
            </a:pPr>
            <a:r>
              <a:rPr lang="ko-KR" altLang="en-US" sz="40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데이터</a:t>
            </a:r>
            <a:r>
              <a:rPr lang="en-US" altLang="ko-KR" sz="40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 </a:t>
            </a:r>
            <a:r>
              <a:rPr lang="ko-KR" altLang="en-US" sz="40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통신 </a:t>
            </a:r>
            <a:r>
              <a:rPr lang="en-US" altLang="ko-KR" sz="4000" b="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(Data Communications) </a:t>
            </a:r>
            <a:endParaRPr lang="en-US" altLang="ko-KR" sz="4000" b="0" dirty="0">
              <a:effectLst>
                <a:outerShdw blurRad="38100" dist="38100" dir="2700000" algn="tl">
                  <a:srgbClr val="C0C0C0"/>
                </a:outerShdw>
              </a:effectLst>
              <a:ea typeface="HY헤드라인M" pitchFamily="18" charset="-127"/>
            </a:endParaRPr>
          </a:p>
          <a:p>
            <a:pPr marL="292100" indent="-292100" algn="ctr">
              <a:lnSpc>
                <a:spcPct val="100000"/>
              </a:lnSpc>
              <a:spcBef>
                <a:spcPct val="10000"/>
              </a:spcBef>
              <a:buFont typeface="Wingdings" pitchFamily="2" charset="2"/>
              <a:buNone/>
              <a:tabLst>
                <a:tab pos="292100" algn="l"/>
                <a:tab pos="685800" algn="l"/>
              </a:tabLst>
              <a:defRPr/>
            </a:pPr>
            <a:r>
              <a:rPr lang="en-US" altLang="ko-KR" sz="4000" b="0" dirty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  <a:sym typeface="Symbol" pitchFamily="18" charset="2"/>
              </a:rPr>
              <a:t></a:t>
            </a:r>
            <a:r>
              <a:rPr lang="en-US" altLang="ko-KR" sz="4000" b="0" dirty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 </a:t>
            </a:r>
            <a:r>
              <a:rPr lang="ko-KR" altLang="en-US" sz="4000" b="0" dirty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개요 </a:t>
            </a:r>
            <a:r>
              <a:rPr lang="en-US" altLang="ko-KR" sz="4000" b="0" dirty="0"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(Overview)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Page </a:t>
            </a:r>
            <a:fld id="{8AEC989E-555E-4E55-9F3C-343127921532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649222" name="Rectangle 6"/>
          <p:cNvSpPr>
            <a:spLocks noChangeArrowheads="1"/>
          </p:cNvSpPr>
          <p:nvPr/>
        </p:nvSpPr>
        <p:spPr bwMode="auto">
          <a:xfrm>
            <a:off x="815975" y="163513"/>
            <a:ext cx="454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ko-KR" altLang="en-US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알고리즘 개요 및 응용 분야</a:t>
            </a:r>
          </a:p>
        </p:txBody>
      </p:sp>
      <p:sp>
        <p:nvSpPr>
          <p:cNvPr id="4100" name="Text Box 7"/>
          <p:cNvSpPr txBox="1">
            <a:spLocks noChangeArrowheads="1"/>
          </p:cNvSpPr>
          <p:nvPr/>
        </p:nvSpPr>
        <p:spPr bwMode="auto">
          <a:xfrm>
            <a:off x="323850" y="936625"/>
            <a:ext cx="8569325" cy="41907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>
                <a:ea typeface="HY헤드라인M" pitchFamily="18" charset="-127"/>
              </a:rPr>
              <a:t>과목 개요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인터넷의 </a:t>
            </a:r>
            <a:r>
              <a:rPr lang="ko-KR" altLang="en-US" b="0" dirty="0">
                <a:ea typeface="HY헤드라인M" pitchFamily="18" charset="-127"/>
              </a:rPr>
              <a:t>발달은 산업발전을 포함한 인류역사발전에 크게 기여하고 있다</a:t>
            </a:r>
            <a:endParaRPr lang="en-US" altLang="ko-KR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본</a:t>
            </a:r>
            <a:r>
              <a:rPr lang="en-US" altLang="ko-KR" b="0" dirty="0">
                <a:ea typeface="HY헤드라인M" pitchFamily="18" charset="-127"/>
              </a:rPr>
              <a:t> </a:t>
            </a:r>
            <a:r>
              <a:rPr lang="ko-KR" altLang="en-US" b="0" dirty="0">
                <a:ea typeface="HY헤드라인M" pitchFamily="18" charset="-127"/>
              </a:rPr>
              <a:t>과목은 </a:t>
            </a:r>
            <a:r>
              <a:rPr lang="en-US" altLang="ko-KR" b="0" dirty="0">
                <a:ea typeface="HY헤드라인M" pitchFamily="18" charset="-127"/>
              </a:rPr>
              <a:t>ISO OSI Reference model</a:t>
            </a:r>
            <a:r>
              <a:rPr lang="ko-KR" altLang="en-US" b="0" dirty="0">
                <a:ea typeface="HY헤드라인M" pitchFamily="18" charset="-127"/>
              </a:rPr>
              <a:t>에서 상위 프로토콜을 중심으로 통신 및 네트워크 이론을 이해하고 이를 응용하는 방법에 대하여 공부한다</a:t>
            </a:r>
            <a:r>
              <a:rPr lang="en-US" altLang="ko-KR" b="0" dirty="0">
                <a:ea typeface="HY헤드라인M" pitchFamily="18" charset="-127"/>
              </a:rPr>
              <a:t>.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상위 프로토콜을 구성하는 각 계층의 기본 개념 및 각 계층별 속성에 대한 설명을 주로 학습한다</a:t>
            </a:r>
            <a:r>
              <a:rPr lang="en-US" altLang="ko-KR" b="0" dirty="0">
                <a:ea typeface="HY헤드라인M" pitchFamily="18" charset="-127"/>
              </a:rPr>
              <a:t>.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주로 응용 계층을 중심으로 프로토콜 분석 및 측정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>
                <a:ea typeface="HY헤드라인M" pitchFamily="18" charset="-127"/>
              </a:rPr>
              <a:t>설계에 대하여 학습한다</a:t>
            </a:r>
            <a:r>
              <a:rPr lang="en-US" altLang="ko-KR" b="0" dirty="0">
                <a:ea typeface="HY헤드라인M" pitchFamily="18" charset="-127"/>
              </a:rPr>
              <a:t>.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endParaRPr lang="ko-KR" altLang="en-US" b="0" dirty="0">
              <a:ea typeface="HY헤드라인M" pitchFamily="18" charset="-127"/>
            </a:endParaRPr>
          </a:p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 smtClean="0">
                <a:ea typeface="HY헤드라인M" pitchFamily="18" charset="-127"/>
              </a:rPr>
              <a:t>과목 목표</a:t>
            </a:r>
            <a:endParaRPr lang="ko-KR" altLang="en-US" sz="2000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컴퓨터의 급속한 보급에 따라 이들 컴퓨터 사이의 정보전달의 필요성이 증대되어왔다</a:t>
            </a:r>
            <a:r>
              <a:rPr lang="en-US" altLang="ko-KR" b="0" dirty="0">
                <a:ea typeface="HY헤드라인M" pitchFamily="18" charset="-127"/>
              </a:rPr>
              <a:t>.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컴퓨터네트워크는 이들 컴퓨터들은 정보를 교환하는 수단을 제공하며 자원의 효율적 사용을 가능하게 해 준다</a:t>
            </a:r>
            <a:r>
              <a:rPr lang="en-US" altLang="ko-KR" b="0" dirty="0">
                <a:ea typeface="HY헤드라인M" pitchFamily="18" charset="-127"/>
              </a:rPr>
              <a:t>. </a:t>
            </a:r>
            <a:endParaRPr lang="en-US" altLang="ko-KR" b="0" dirty="0" smtClean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본 </a:t>
            </a:r>
            <a:r>
              <a:rPr lang="ko-KR" altLang="en-US" b="0" dirty="0">
                <a:ea typeface="HY헤드라인M" pitchFamily="18" charset="-127"/>
              </a:rPr>
              <a:t>과목에서는 응용 계층의 설계 및 분석 방법 등에 대하여 공부하는 것이 목적이다</a:t>
            </a:r>
            <a:r>
              <a:rPr lang="en-US" altLang="ko-KR" b="0" dirty="0">
                <a:ea typeface="HY헤드라인M" pitchFamily="18" charset="-127"/>
              </a:rPr>
              <a:t>. </a:t>
            </a:r>
            <a:endParaRPr lang="en-US" altLang="ko-KR" sz="2000" b="0" dirty="0">
              <a:solidFill>
                <a:schemeClr val="accent2"/>
              </a:solidFill>
              <a:ea typeface="HY헤드라인M" pitchFamily="18" charset="-127"/>
            </a:endParaRPr>
          </a:p>
        </p:txBody>
      </p:sp>
      <p:sp>
        <p:nvSpPr>
          <p:cNvPr id="4101" name="Text Box 8"/>
          <p:cNvSpPr txBox="1">
            <a:spLocks noChangeArrowheads="1"/>
          </p:cNvSpPr>
          <p:nvPr/>
        </p:nvSpPr>
        <p:spPr bwMode="auto">
          <a:xfrm>
            <a:off x="6616380" y="475360"/>
            <a:ext cx="2437133" cy="25736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292100" indent="-292100" algn="r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tabLst>
                <a:tab pos="292100" algn="l"/>
                <a:tab pos="685800" algn="l"/>
              </a:tabLst>
            </a:pPr>
            <a:r>
              <a:rPr lang="en-US" altLang="ko-KR" sz="1200" b="0" dirty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Overview of </a:t>
            </a:r>
            <a:r>
              <a:rPr lang="en-US" altLang="ko-KR" sz="1200" b="0" dirty="0" smtClean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Data Communications</a:t>
            </a:r>
            <a:endParaRPr lang="en-US" altLang="ko-KR" sz="1200" b="0" dirty="0">
              <a:solidFill>
                <a:srgbClr val="0066CC"/>
              </a:solidFill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Page </a:t>
            </a:r>
            <a:fld id="{4BFA8718-2B96-43DE-80DB-1C53305DFC2D}" type="slidenum">
              <a:rPr lang="en-US" altLang="ko-KR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815975" y="163513"/>
            <a:ext cx="454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ko-KR" altLang="en-US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강의 계획</a:t>
            </a:r>
            <a:r>
              <a:rPr lang="en-US" altLang="ko-KR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(1/3)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23850" y="936625"/>
            <a:ext cx="8569325" cy="35998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 smtClean="0">
                <a:ea typeface="HY헤드라인M" pitchFamily="18" charset="-127"/>
              </a:rPr>
              <a:t>강의 </a:t>
            </a:r>
            <a:r>
              <a:rPr lang="ko-KR" altLang="en-US" sz="2000" b="0" dirty="0">
                <a:ea typeface="HY헤드라인M" pitchFamily="18" charset="-127"/>
              </a:rPr>
              <a:t>시간 및 담당 교수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강의 시간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 smtClean="0">
                <a:ea typeface="HY헤드라인M" pitchFamily="18" charset="-127"/>
              </a:rPr>
              <a:t>월</a:t>
            </a:r>
            <a:r>
              <a:rPr lang="en-US" altLang="ko-KR" b="0" dirty="0" smtClean="0">
                <a:ea typeface="HY헤드라인M" pitchFamily="18" charset="-127"/>
              </a:rPr>
              <a:t>, </a:t>
            </a:r>
            <a:r>
              <a:rPr lang="ko-KR" altLang="en-US" b="0" dirty="0" smtClean="0">
                <a:ea typeface="HY헤드라인M" pitchFamily="18" charset="-127"/>
              </a:rPr>
              <a:t>목 </a:t>
            </a:r>
            <a:r>
              <a:rPr lang="en-US" altLang="ko-KR" b="0" dirty="0">
                <a:ea typeface="HY헤드라인M" pitchFamily="18" charset="-127"/>
              </a:rPr>
              <a:t>15:00~16:15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강의실</a:t>
            </a:r>
            <a:r>
              <a:rPr lang="en-US" altLang="ko-KR" b="0" dirty="0" smtClean="0">
                <a:ea typeface="HY헤드라인M" pitchFamily="18" charset="-127"/>
              </a:rPr>
              <a:t>: </a:t>
            </a:r>
            <a:r>
              <a:rPr lang="ko-KR" altLang="en-US" b="0" dirty="0" err="1" smtClean="0">
                <a:ea typeface="HY헤드라인M" pitchFamily="18" charset="-127"/>
              </a:rPr>
              <a:t>한빛관</a:t>
            </a:r>
            <a:r>
              <a:rPr lang="ko-KR" altLang="en-US" b="0" dirty="0" smtClean="0">
                <a:ea typeface="HY헤드라인M" pitchFamily="18" charset="-127"/>
              </a:rPr>
              <a:t> </a:t>
            </a:r>
            <a:r>
              <a:rPr lang="en-US" altLang="ko-KR" b="0" dirty="0" smtClean="0">
                <a:ea typeface="HY헤드라인M" pitchFamily="18" charset="-127"/>
              </a:rPr>
              <a:t>412</a:t>
            </a:r>
            <a:r>
              <a:rPr lang="ko-KR" altLang="en-US" b="0" dirty="0" smtClean="0">
                <a:ea typeface="HY헤드라인M" pitchFamily="18" charset="-127"/>
              </a:rPr>
              <a:t>호</a:t>
            </a:r>
            <a:endParaRPr lang="en-US" altLang="ko-KR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담당 교수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 smtClean="0">
                <a:ea typeface="HY헤드라인M" pitchFamily="18" charset="-127"/>
              </a:rPr>
              <a:t>최미정 </a:t>
            </a:r>
            <a:r>
              <a:rPr lang="en-US" altLang="ko-KR" b="0" dirty="0" smtClean="0">
                <a:ea typeface="HY헤드라인M" pitchFamily="18" charset="-127"/>
              </a:rPr>
              <a:t>(</a:t>
            </a:r>
            <a:r>
              <a:rPr lang="ko-KR" altLang="en-US" b="0" dirty="0" err="1" smtClean="0">
                <a:ea typeface="HY헤드라인M" pitchFamily="18" charset="-127"/>
              </a:rPr>
              <a:t>한빛관</a:t>
            </a:r>
            <a:r>
              <a:rPr lang="ko-KR" altLang="en-US" b="0" dirty="0" smtClean="0">
                <a:ea typeface="HY헤드라인M" pitchFamily="18" charset="-127"/>
              </a:rPr>
              <a:t> </a:t>
            </a:r>
            <a:r>
              <a:rPr lang="en-US" altLang="ko-KR" b="0" dirty="0" smtClean="0">
                <a:ea typeface="HY헤드라인M" pitchFamily="18" charset="-127"/>
              </a:rPr>
              <a:t>305</a:t>
            </a:r>
            <a:r>
              <a:rPr lang="ko-KR" altLang="en-US" b="0" dirty="0" smtClean="0">
                <a:ea typeface="HY헤드라인M" pitchFamily="18" charset="-127"/>
              </a:rPr>
              <a:t>호</a:t>
            </a:r>
            <a:r>
              <a:rPr lang="en-US" altLang="ko-KR" b="0" dirty="0" smtClean="0">
                <a:ea typeface="HY헤드라인M" pitchFamily="18" charset="-127"/>
              </a:rPr>
              <a:t>, x8442, mjchoi@kangwon.ac.kr)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endParaRPr lang="en-US" altLang="ko-KR" b="0" dirty="0">
              <a:ea typeface="HY헤드라인M" pitchFamily="18" charset="-127"/>
            </a:endParaRPr>
          </a:p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>
                <a:ea typeface="HY헤드라인M" pitchFamily="18" charset="-127"/>
              </a:rPr>
              <a:t>강의 교재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교재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>
                <a:ea typeface="HY헤드라인M" pitchFamily="18" charset="-127"/>
              </a:rPr>
              <a:t>컴퓨터 네트워킹 </a:t>
            </a:r>
            <a:r>
              <a:rPr lang="en-US" altLang="ko-KR" b="0" dirty="0">
                <a:ea typeface="HY헤드라인M" pitchFamily="18" charset="-127"/>
              </a:rPr>
              <a:t>-</a:t>
            </a:r>
            <a:r>
              <a:rPr lang="ko-KR" altLang="en-US" b="0" dirty="0">
                <a:ea typeface="HY헤드라인M" pitchFamily="18" charset="-127"/>
              </a:rPr>
              <a:t>하향식 접근</a:t>
            </a:r>
            <a:r>
              <a:rPr lang="en-US" altLang="ko-KR" b="0" dirty="0">
                <a:ea typeface="HY헤드라인M" pitchFamily="18" charset="-127"/>
              </a:rPr>
              <a:t>-, </a:t>
            </a:r>
            <a:r>
              <a:rPr lang="ko-KR" altLang="en-US" b="0" dirty="0" smtClean="0">
                <a:ea typeface="HY헤드라인M" pitchFamily="18" charset="-127"/>
              </a:rPr>
              <a:t>제</a:t>
            </a:r>
            <a:r>
              <a:rPr lang="en-US" altLang="ko-KR" b="0" dirty="0" smtClean="0">
                <a:ea typeface="HY헤드라인M" pitchFamily="18" charset="-127"/>
              </a:rPr>
              <a:t> 7</a:t>
            </a:r>
            <a:r>
              <a:rPr lang="ko-KR" altLang="en-US" b="0" dirty="0" smtClean="0">
                <a:ea typeface="HY헤드라인M" pitchFamily="18" charset="-127"/>
              </a:rPr>
              <a:t>판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 smtClean="0">
                <a:ea typeface="HY헤드라인M" pitchFamily="18" charset="-127"/>
              </a:rPr>
              <a:t>강현국</a:t>
            </a:r>
            <a:r>
              <a:rPr lang="ko-KR" altLang="en-US" b="0" dirty="0" smtClean="0">
                <a:ea typeface="HY헤드라인M" pitchFamily="18" charset="-127"/>
              </a:rPr>
              <a:t> 외 </a:t>
            </a:r>
            <a:r>
              <a:rPr lang="en-US" altLang="ko-KR" b="0" dirty="0">
                <a:ea typeface="HY헤드라인M" pitchFamily="18" charset="-127"/>
              </a:rPr>
              <a:t>5</a:t>
            </a:r>
            <a:r>
              <a:rPr lang="ko-KR" altLang="en-US" b="0" dirty="0">
                <a:ea typeface="HY헤드라인M" pitchFamily="18" charset="-127"/>
              </a:rPr>
              <a:t>인 공역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>
                <a:ea typeface="HY헤드라인M" pitchFamily="18" charset="-127"/>
              </a:rPr>
              <a:t>교보문고</a:t>
            </a:r>
            <a:endParaRPr lang="ko-KR" altLang="en-US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부교재</a:t>
            </a:r>
            <a:r>
              <a:rPr lang="en-US" altLang="ko-KR" b="0" dirty="0" smtClean="0">
                <a:ea typeface="HY헤드라인M" pitchFamily="18" charset="-127"/>
              </a:rPr>
              <a:t>(</a:t>
            </a:r>
            <a:r>
              <a:rPr lang="ko-KR" altLang="en-US" b="0" dirty="0" smtClean="0">
                <a:ea typeface="HY헤드라인M" pitchFamily="18" charset="-127"/>
              </a:rPr>
              <a:t>원서</a:t>
            </a:r>
            <a:r>
              <a:rPr lang="en-US" altLang="ko-KR" b="0" dirty="0" smtClean="0">
                <a:ea typeface="HY헤드라인M" pitchFamily="18" charset="-127"/>
              </a:rPr>
              <a:t>): </a:t>
            </a:r>
            <a:r>
              <a:rPr lang="en-US" altLang="ko-KR" b="0" dirty="0">
                <a:ea typeface="HY헤드라인M" pitchFamily="18" charset="-127"/>
              </a:rPr>
              <a:t>Computer Networking A Top-Down Approach, </a:t>
            </a:r>
            <a:r>
              <a:rPr lang="en-US" altLang="ko-KR" b="0" dirty="0" smtClean="0">
                <a:ea typeface="HY헤드라인M" pitchFamily="18" charset="-127"/>
              </a:rPr>
              <a:t>7th </a:t>
            </a:r>
            <a:r>
              <a:rPr lang="en-US" altLang="ko-KR" b="0" dirty="0">
                <a:ea typeface="HY헤드라인M" pitchFamily="18" charset="-127"/>
              </a:rPr>
              <a:t>Edition, James F. Kurose, Keith W. Ross, Pearson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부교재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>
                <a:ea typeface="HY헤드라인M" pitchFamily="18" charset="-127"/>
              </a:rPr>
              <a:t>데이터통신과 네트워킹 </a:t>
            </a:r>
            <a:r>
              <a:rPr lang="en-US" altLang="ko-KR" b="0" dirty="0">
                <a:ea typeface="HY헤드라인M" pitchFamily="18" charset="-127"/>
              </a:rPr>
              <a:t>(Data Communication and Networking, Behrouz A. </a:t>
            </a:r>
            <a:r>
              <a:rPr lang="en-US" altLang="ko-KR" b="0" dirty="0" err="1">
                <a:ea typeface="HY헤드라인M" pitchFamily="18" charset="-127"/>
              </a:rPr>
              <a:t>Forouzan</a:t>
            </a:r>
            <a:r>
              <a:rPr lang="en-US" altLang="ko-KR" b="0" dirty="0">
                <a:ea typeface="HY헤드라인M" pitchFamily="18" charset="-127"/>
              </a:rPr>
              <a:t>) </a:t>
            </a:r>
            <a:r>
              <a:rPr lang="en-US" altLang="ko-KR" b="0" dirty="0" smtClean="0">
                <a:ea typeface="HY헤드라인M" pitchFamily="18" charset="-127"/>
              </a:rPr>
              <a:t>7th, </a:t>
            </a:r>
            <a:r>
              <a:rPr lang="ko-KR" altLang="en-US" b="0" dirty="0">
                <a:ea typeface="HY헤드라인M" pitchFamily="18" charset="-127"/>
              </a:rPr>
              <a:t>이재광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>
                <a:ea typeface="HY헤드라인M" pitchFamily="18" charset="-127"/>
              </a:rPr>
              <a:t>박동선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>
                <a:ea typeface="HY헤드라인M" pitchFamily="18" charset="-127"/>
              </a:rPr>
              <a:t>김한규 공역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>
                <a:ea typeface="HY헤드라인M" pitchFamily="18" charset="-127"/>
              </a:rPr>
              <a:t>교보문고</a:t>
            </a:r>
            <a:r>
              <a:rPr lang="ko-KR" altLang="en-US" b="0" dirty="0">
                <a:ea typeface="HY헤드라인M" pitchFamily="18" charset="-127"/>
              </a:rPr>
              <a:t> 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6616380" y="475360"/>
            <a:ext cx="2437133" cy="25736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292100" indent="-292100" algn="r">
              <a:lnSpc>
                <a:spcPct val="100000"/>
              </a:lnSpc>
              <a:spcBef>
                <a:spcPct val="0"/>
              </a:spcBef>
              <a:buNone/>
              <a:tabLst>
                <a:tab pos="292100" algn="l"/>
                <a:tab pos="685800" algn="l"/>
              </a:tabLst>
            </a:pPr>
            <a:r>
              <a:rPr lang="en-US" altLang="ko-KR" sz="1200" b="0" dirty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Overview of Data Communications</a:t>
            </a:r>
            <a:endParaRPr lang="en-US" altLang="ko-KR" sz="1200" b="0" dirty="0">
              <a:solidFill>
                <a:srgbClr val="0066CC"/>
              </a:solidFill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Page </a:t>
            </a:r>
            <a:fld id="{4BFA8718-2B96-43DE-80DB-1C53305DFC2D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815975" y="163513"/>
            <a:ext cx="454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ko-KR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강의 계획</a:t>
            </a:r>
            <a:r>
              <a:rPr lang="en-US" altLang="ko-KR" sz="2400" b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(1/3</a:t>
            </a:r>
            <a:r>
              <a:rPr lang="en-US" altLang="ko-KR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23850" y="936625"/>
            <a:ext cx="8569325" cy="35998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 smtClean="0">
                <a:ea typeface="HY헤드라인M" pitchFamily="18" charset="-127"/>
              </a:rPr>
              <a:t>강의 </a:t>
            </a:r>
            <a:r>
              <a:rPr lang="ko-KR" altLang="en-US" sz="2000" b="0" dirty="0">
                <a:ea typeface="HY헤드라인M" pitchFamily="18" charset="-127"/>
              </a:rPr>
              <a:t>시간 및 담당 교수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강의 시간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 smtClean="0">
                <a:ea typeface="HY헤드라인M" pitchFamily="18" charset="-127"/>
              </a:rPr>
              <a:t>월</a:t>
            </a:r>
            <a:r>
              <a:rPr lang="en-US" altLang="ko-KR" b="0" dirty="0" smtClean="0">
                <a:ea typeface="HY헤드라인M" pitchFamily="18" charset="-127"/>
              </a:rPr>
              <a:t>, </a:t>
            </a:r>
            <a:r>
              <a:rPr lang="ko-KR" altLang="en-US" b="0" dirty="0" smtClean="0">
                <a:ea typeface="HY헤드라인M" pitchFamily="18" charset="-127"/>
              </a:rPr>
              <a:t>목 </a:t>
            </a:r>
            <a:r>
              <a:rPr lang="en-US" altLang="ko-KR" b="0" dirty="0" smtClean="0">
                <a:ea typeface="HY헤드라인M" pitchFamily="18" charset="-127"/>
              </a:rPr>
              <a:t>15:00~16:15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강의실</a:t>
            </a:r>
            <a:r>
              <a:rPr lang="en-US" altLang="ko-KR" b="0" dirty="0" smtClean="0">
                <a:ea typeface="HY헤드라인M" pitchFamily="18" charset="-127"/>
              </a:rPr>
              <a:t>: </a:t>
            </a:r>
            <a:r>
              <a:rPr lang="ko-KR" altLang="en-US" b="0" dirty="0" err="1" smtClean="0">
                <a:ea typeface="HY헤드라인M" pitchFamily="18" charset="-127"/>
              </a:rPr>
              <a:t>한빛관</a:t>
            </a:r>
            <a:r>
              <a:rPr lang="ko-KR" altLang="en-US" b="0" dirty="0" smtClean="0">
                <a:ea typeface="HY헤드라인M" pitchFamily="18" charset="-127"/>
              </a:rPr>
              <a:t> </a:t>
            </a:r>
            <a:r>
              <a:rPr lang="en-US" altLang="ko-KR" b="0" dirty="0" smtClean="0">
                <a:ea typeface="HY헤드라인M" pitchFamily="18" charset="-127"/>
              </a:rPr>
              <a:t>412</a:t>
            </a:r>
            <a:r>
              <a:rPr lang="ko-KR" altLang="en-US" b="0" dirty="0" smtClean="0">
                <a:ea typeface="HY헤드라인M" pitchFamily="18" charset="-127"/>
              </a:rPr>
              <a:t>호</a:t>
            </a:r>
            <a:endParaRPr lang="en-US" altLang="ko-KR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담당 교수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 smtClean="0">
                <a:ea typeface="HY헤드라인M" pitchFamily="18" charset="-127"/>
              </a:rPr>
              <a:t>최미정 </a:t>
            </a:r>
            <a:r>
              <a:rPr lang="en-US" altLang="ko-KR" b="0" dirty="0" smtClean="0">
                <a:ea typeface="HY헤드라인M" pitchFamily="18" charset="-127"/>
              </a:rPr>
              <a:t>(</a:t>
            </a:r>
            <a:r>
              <a:rPr lang="ko-KR" altLang="en-US" b="0" dirty="0" err="1" smtClean="0">
                <a:ea typeface="HY헤드라인M" pitchFamily="18" charset="-127"/>
              </a:rPr>
              <a:t>한빛관</a:t>
            </a:r>
            <a:r>
              <a:rPr lang="ko-KR" altLang="en-US" b="0" dirty="0" smtClean="0">
                <a:ea typeface="HY헤드라인M" pitchFamily="18" charset="-127"/>
              </a:rPr>
              <a:t> </a:t>
            </a:r>
            <a:r>
              <a:rPr lang="en-US" altLang="ko-KR" b="0" dirty="0" smtClean="0">
                <a:ea typeface="HY헤드라인M" pitchFamily="18" charset="-127"/>
              </a:rPr>
              <a:t>305</a:t>
            </a:r>
            <a:r>
              <a:rPr lang="ko-KR" altLang="en-US" b="0" dirty="0" smtClean="0">
                <a:ea typeface="HY헤드라인M" pitchFamily="18" charset="-127"/>
              </a:rPr>
              <a:t>호</a:t>
            </a:r>
            <a:r>
              <a:rPr lang="en-US" altLang="ko-KR" b="0" dirty="0" smtClean="0">
                <a:ea typeface="HY헤드라인M" pitchFamily="18" charset="-127"/>
              </a:rPr>
              <a:t>, x8442, mjchoi@kangwon.ac.kr)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endParaRPr lang="en-US" altLang="ko-KR" b="0" dirty="0">
              <a:ea typeface="HY헤드라인M" pitchFamily="18" charset="-127"/>
            </a:endParaRPr>
          </a:p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>
                <a:ea typeface="HY헤드라인M" pitchFamily="18" charset="-127"/>
              </a:rPr>
              <a:t>강의 교재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교재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>
                <a:ea typeface="HY헤드라인M" pitchFamily="18" charset="-127"/>
              </a:rPr>
              <a:t>컴퓨터 네트워킹 </a:t>
            </a:r>
            <a:r>
              <a:rPr lang="en-US" altLang="ko-KR" b="0" dirty="0">
                <a:ea typeface="HY헤드라인M" pitchFamily="18" charset="-127"/>
              </a:rPr>
              <a:t>-</a:t>
            </a:r>
            <a:r>
              <a:rPr lang="ko-KR" altLang="en-US" b="0" dirty="0">
                <a:ea typeface="HY헤드라인M" pitchFamily="18" charset="-127"/>
              </a:rPr>
              <a:t>하향식 접근</a:t>
            </a:r>
            <a:r>
              <a:rPr lang="en-US" altLang="ko-KR" b="0" dirty="0">
                <a:ea typeface="HY헤드라인M" pitchFamily="18" charset="-127"/>
              </a:rPr>
              <a:t>-, </a:t>
            </a:r>
            <a:r>
              <a:rPr lang="ko-KR" altLang="en-US" b="0" dirty="0" smtClean="0">
                <a:ea typeface="HY헤드라인M" pitchFamily="18" charset="-127"/>
              </a:rPr>
              <a:t>제 </a:t>
            </a:r>
            <a:r>
              <a:rPr lang="en-US" altLang="ko-KR" b="0" dirty="0" smtClean="0">
                <a:ea typeface="HY헤드라인M" pitchFamily="18" charset="-127"/>
              </a:rPr>
              <a:t>7</a:t>
            </a:r>
            <a:r>
              <a:rPr lang="ko-KR" altLang="en-US" b="0" dirty="0" smtClean="0">
                <a:ea typeface="HY헤드라인M" pitchFamily="18" charset="-127"/>
              </a:rPr>
              <a:t>판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 smtClean="0">
                <a:ea typeface="HY헤드라인M" pitchFamily="18" charset="-127"/>
              </a:rPr>
              <a:t>강현국</a:t>
            </a:r>
            <a:r>
              <a:rPr lang="ko-KR" altLang="en-US" b="0" dirty="0" smtClean="0">
                <a:ea typeface="HY헤드라인M" pitchFamily="18" charset="-127"/>
              </a:rPr>
              <a:t> 외 </a:t>
            </a:r>
            <a:r>
              <a:rPr lang="en-US" altLang="ko-KR" b="0" dirty="0">
                <a:ea typeface="HY헤드라인M" pitchFamily="18" charset="-127"/>
              </a:rPr>
              <a:t>5</a:t>
            </a:r>
            <a:r>
              <a:rPr lang="ko-KR" altLang="en-US" b="0" dirty="0">
                <a:ea typeface="HY헤드라인M" pitchFamily="18" charset="-127"/>
              </a:rPr>
              <a:t>인 공역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>
                <a:ea typeface="HY헤드라인M" pitchFamily="18" charset="-127"/>
              </a:rPr>
              <a:t>교보문고</a:t>
            </a:r>
            <a:endParaRPr lang="ko-KR" altLang="en-US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부교재</a:t>
            </a:r>
            <a:r>
              <a:rPr lang="en-US" altLang="ko-KR" b="0" dirty="0" smtClean="0">
                <a:ea typeface="HY헤드라인M" pitchFamily="18" charset="-127"/>
              </a:rPr>
              <a:t>(</a:t>
            </a:r>
            <a:r>
              <a:rPr lang="ko-KR" altLang="en-US" b="0" dirty="0" smtClean="0">
                <a:ea typeface="HY헤드라인M" pitchFamily="18" charset="-127"/>
              </a:rPr>
              <a:t>원서</a:t>
            </a:r>
            <a:r>
              <a:rPr lang="en-US" altLang="ko-KR" b="0" dirty="0" smtClean="0">
                <a:ea typeface="HY헤드라인M" pitchFamily="18" charset="-127"/>
              </a:rPr>
              <a:t>): </a:t>
            </a:r>
            <a:r>
              <a:rPr lang="en-US" altLang="ko-KR" b="0" dirty="0">
                <a:ea typeface="HY헤드라인M" pitchFamily="18" charset="-127"/>
              </a:rPr>
              <a:t>Computer Networking A Top-Down Approach, </a:t>
            </a:r>
            <a:r>
              <a:rPr lang="en-US" altLang="ko-KR" b="0" dirty="0" smtClean="0">
                <a:ea typeface="HY헤드라인M" pitchFamily="18" charset="-127"/>
              </a:rPr>
              <a:t>7th </a:t>
            </a:r>
            <a:r>
              <a:rPr lang="en-US" altLang="ko-KR" b="0" dirty="0">
                <a:ea typeface="HY헤드라인M" pitchFamily="18" charset="-127"/>
              </a:rPr>
              <a:t>Edition, James F. Kurose, Keith W. Ross, Pearson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부교재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>
                <a:ea typeface="HY헤드라인M" pitchFamily="18" charset="-127"/>
              </a:rPr>
              <a:t>데이터통신과 네트워킹 </a:t>
            </a:r>
            <a:r>
              <a:rPr lang="en-US" altLang="ko-KR" b="0" dirty="0">
                <a:ea typeface="HY헤드라인M" pitchFamily="18" charset="-127"/>
              </a:rPr>
              <a:t>(Data Communication and Networking, Behrouz A. </a:t>
            </a:r>
            <a:r>
              <a:rPr lang="en-US" altLang="ko-KR" b="0" dirty="0" err="1">
                <a:ea typeface="HY헤드라인M" pitchFamily="18" charset="-127"/>
              </a:rPr>
              <a:t>Forouzan</a:t>
            </a:r>
            <a:r>
              <a:rPr lang="en-US" altLang="ko-KR" b="0" dirty="0">
                <a:ea typeface="HY헤드라인M" pitchFamily="18" charset="-127"/>
              </a:rPr>
              <a:t>) 7th, </a:t>
            </a:r>
            <a:r>
              <a:rPr lang="ko-KR" altLang="en-US" b="0" dirty="0">
                <a:ea typeface="HY헤드라인M" pitchFamily="18" charset="-127"/>
              </a:rPr>
              <a:t>이재광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>
                <a:ea typeface="HY헤드라인M" pitchFamily="18" charset="-127"/>
              </a:rPr>
              <a:t>박동선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>
                <a:ea typeface="HY헤드라인M" pitchFamily="18" charset="-127"/>
              </a:rPr>
              <a:t>김한규 공역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>
                <a:ea typeface="HY헤드라인M" pitchFamily="18" charset="-127"/>
              </a:rPr>
              <a:t>교보문고</a:t>
            </a:r>
            <a:r>
              <a:rPr lang="ko-KR" altLang="en-US" b="0" dirty="0">
                <a:ea typeface="HY헤드라인M" pitchFamily="18" charset="-127"/>
              </a:rPr>
              <a:t> 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6616380" y="475360"/>
            <a:ext cx="2437133" cy="25736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292100" indent="-292100" algn="r">
              <a:lnSpc>
                <a:spcPct val="100000"/>
              </a:lnSpc>
              <a:spcBef>
                <a:spcPct val="0"/>
              </a:spcBef>
              <a:buNone/>
              <a:tabLst>
                <a:tab pos="292100" algn="l"/>
                <a:tab pos="685800" algn="l"/>
              </a:tabLst>
            </a:pPr>
            <a:r>
              <a:rPr lang="en-US" altLang="ko-KR" sz="1200" b="0" dirty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Overview of Data Communications</a:t>
            </a:r>
            <a:endParaRPr lang="en-US" altLang="ko-KR" sz="1200" b="0" dirty="0">
              <a:solidFill>
                <a:srgbClr val="0066CC"/>
              </a:solidFill>
              <a:ea typeface="HY헤드라인M" pitchFamily="18" charset="-127"/>
            </a:endParaRPr>
          </a:p>
        </p:txBody>
      </p:sp>
      <p:pic>
        <p:nvPicPr>
          <p:cNvPr id="7" name="Picture 1" descr="kurose7e_cover_small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2389246"/>
            <a:ext cx="2558517" cy="3171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07" y="2852936"/>
            <a:ext cx="2607288" cy="3171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090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Page </a:t>
            </a:r>
            <a:fld id="{16BDF804-4646-4D47-9582-1032DB0B3F60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695299" name="Rectangle 3"/>
          <p:cNvSpPr>
            <a:spLocks noChangeArrowheads="1"/>
          </p:cNvSpPr>
          <p:nvPr/>
        </p:nvSpPr>
        <p:spPr bwMode="auto">
          <a:xfrm>
            <a:off x="815975" y="163513"/>
            <a:ext cx="454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ko-KR" altLang="en-US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강의 계획</a:t>
            </a:r>
            <a:r>
              <a:rPr lang="en-US" altLang="ko-KR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(2/3)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323850" y="936625"/>
            <a:ext cx="8569325" cy="37957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>
                <a:ea typeface="HY헤드라인M" pitchFamily="18" charset="-127"/>
              </a:rPr>
              <a:t>평가 </a:t>
            </a:r>
            <a:r>
              <a:rPr lang="ko-KR" altLang="en-US" sz="2000" b="0" dirty="0" smtClean="0">
                <a:ea typeface="HY헤드라인M" pitchFamily="18" charset="-127"/>
              </a:rPr>
              <a:t>기준 </a:t>
            </a:r>
            <a:r>
              <a:rPr lang="en-US" altLang="ko-KR" sz="2000" b="0" dirty="0" smtClean="0">
                <a:solidFill>
                  <a:schemeClr val="bg1">
                    <a:lumMod val="50000"/>
                  </a:schemeClr>
                </a:solidFill>
                <a:ea typeface="HY헤드라인M" pitchFamily="18" charset="-127"/>
              </a:rPr>
              <a:t>(</a:t>
            </a:r>
            <a:r>
              <a:rPr lang="ko-KR" altLang="en-US" sz="2000" b="0" dirty="0" smtClean="0">
                <a:solidFill>
                  <a:schemeClr val="bg1">
                    <a:lumMod val="50000"/>
                  </a:schemeClr>
                </a:solidFill>
                <a:ea typeface="HY헤드라인M" pitchFamily="18" charset="-127"/>
              </a:rPr>
              <a:t>아래 평가 비율은 일부 조정될 수 있습니다</a:t>
            </a:r>
            <a:r>
              <a:rPr lang="en-US" altLang="ko-KR" sz="2000" b="0" dirty="0" smtClean="0">
                <a:solidFill>
                  <a:schemeClr val="bg1">
                    <a:lumMod val="50000"/>
                  </a:schemeClr>
                </a:solidFill>
                <a:ea typeface="HY헤드라인M" pitchFamily="18" charset="-127"/>
              </a:rPr>
              <a:t>.) </a:t>
            </a:r>
            <a:endParaRPr lang="ko-KR" altLang="en-US" sz="2000" b="0" dirty="0" smtClean="0">
              <a:solidFill>
                <a:schemeClr val="bg1">
                  <a:lumMod val="50000"/>
                </a:schemeClr>
              </a:solidFill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중간시험 </a:t>
            </a:r>
            <a:r>
              <a:rPr lang="en-US" altLang="ko-KR" b="0" dirty="0" smtClean="0">
                <a:ea typeface="HY헤드라인M" pitchFamily="18" charset="-127"/>
              </a:rPr>
              <a:t>35%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기말시험 </a:t>
            </a:r>
            <a:r>
              <a:rPr lang="en-US" altLang="ko-KR" b="0" dirty="0" smtClean="0">
                <a:ea typeface="HY헤드라인M" pitchFamily="18" charset="-127"/>
              </a:rPr>
              <a:t>35%</a:t>
            </a:r>
            <a:endParaRPr lang="en-US" altLang="ko-KR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숙제 </a:t>
            </a:r>
            <a:r>
              <a:rPr lang="en-US" altLang="ko-KR" b="0" dirty="0">
                <a:ea typeface="HY헤드라인M" pitchFamily="18" charset="-127"/>
              </a:rPr>
              <a:t>20%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>
                <a:ea typeface="HY헤드라인M" pitchFamily="18" charset="-127"/>
              </a:rPr>
              <a:t>출석 </a:t>
            </a:r>
            <a:r>
              <a:rPr lang="en-US" altLang="ko-KR" b="0" dirty="0">
                <a:ea typeface="HY헤드라인M" pitchFamily="18" charset="-127"/>
              </a:rPr>
              <a:t>10</a:t>
            </a:r>
            <a:r>
              <a:rPr lang="en-US" altLang="ko-KR" b="0" dirty="0" smtClean="0">
                <a:ea typeface="HY헤드라인M" pitchFamily="18" charset="-127"/>
              </a:rPr>
              <a:t>%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endParaRPr lang="en-US" altLang="ko-KR" b="0" dirty="0" smtClean="0">
              <a:ea typeface="HY헤드라인M" pitchFamily="18" charset="-127"/>
            </a:endParaRPr>
          </a:p>
          <a:p>
            <a:pPr marL="292100" indent="-292100">
              <a:lnSpc>
                <a:spcPct val="110000"/>
              </a:lnSpc>
              <a:spcBef>
                <a:spcPts val="1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 smtClean="0">
                <a:ea typeface="HY헤드라인M" pitchFamily="18" charset="-127"/>
              </a:rPr>
              <a:t>기타</a:t>
            </a:r>
            <a:endParaRPr lang="en-US" altLang="ko-KR" sz="2000" b="0" dirty="0" smtClean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필요시 실습을 </a:t>
            </a:r>
            <a:r>
              <a:rPr lang="en-US" altLang="ko-KR" b="0" dirty="0" smtClean="0">
                <a:ea typeface="HY헤드라인M" pitchFamily="18" charset="-127"/>
              </a:rPr>
              <a:t>1~2</a:t>
            </a:r>
            <a:r>
              <a:rPr lang="ko-KR" altLang="en-US" b="0" dirty="0" smtClean="0">
                <a:ea typeface="HY헤드라인M" pitchFamily="18" charset="-127"/>
              </a:rPr>
              <a:t>번 </a:t>
            </a:r>
            <a:r>
              <a:rPr lang="ko-KR" altLang="en-US" b="0" dirty="0" smtClean="0">
                <a:ea typeface="HY헤드라인M" pitchFamily="18" charset="-127"/>
              </a:rPr>
              <a:t>정도 할 수 있습니다</a:t>
            </a:r>
            <a:r>
              <a:rPr lang="en-US" altLang="ko-KR" b="0" dirty="0" smtClean="0">
                <a:ea typeface="HY헤드라인M" pitchFamily="18" charset="-127"/>
              </a:rPr>
              <a:t>. </a:t>
            </a:r>
            <a:endParaRPr lang="en-US" altLang="ko-KR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프로그램 과제 제출 계획 있음</a:t>
            </a:r>
            <a:endParaRPr lang="en-US" altLang="ko-KR" b="0" dirty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프로그램 과제는 추후 시험 문제로 출제 예정</a:t>
            </a:r>
            <a:endParaRPr lang="en-US" altLang="ko-KR" b="0" dirty="0" smtClean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ko-KR" altLang="en-US" b="0" dirty="0" smtClean="0">
                <a:ea typeface="HY헤드라인M" pitchFamily="18" charset="-127"/>
              </a:rPr>
              <a:t>교재 </a:t>
            </a:r>
            <a:r>
              <a:rPr lang="en-US" altLang="ko-KR" b="0" dirty="0" smtClean="0">
                <a:ea typeface="HY헤드라인M" pitchFamily="18" charset="-127"/>
              </a:rPr>
              <a:t>1</a:t>
            </a:r>
            <a:r>
              <a:rPr lang="ko-KR" altLang="en-US" b="0" dirty="0" smtClean="0">
                <a:ea typeface="HY헤드라인M" pitchFamily="18" charset="-127"/>
              </a:rPr>
              <a:t>개를 </a:t>
            </a:r>
            <a:r>
              <a:rPr lang="en-US" altLang="ko-KR" b="0" dirty="0" smtClean="0">
                <a:ea typeface="HY헤드라인M" pitchFamily="18" charset="-127"/>
              </a:rPr>
              <a:t>1</a:t>
            </a:r>
            <a:r>
              <a:rPr lang="ko-KR" altLang="en-US" b="0" dirty="0" smtClean="0">
                <a:ea typeface="HY헤드라인M" pitchFamily="18" charset="-127"/>
              </a:rPr>
              <a:t>년 동안 수업할 예정 </a:t>
            </a:r>
            <a:r>
              <a:rPr lang="en-US" altLang="ko-KR" b="0" dirty="0" smtClean="0">
                <a:ea typeface="HY헤드라인M" pitchFamily="18" charset="-127"/>
              </a:rPr>
              <a:t>(</a:t>
            </a:r>
            <a:r>
              <a:rPr lang="ko-KR" altLang="en-US" b="0" dirty="0" smtClean="0">
                <a:ea typeface="HY헤드라인M" pitchFamily="18" charset="-127"/>
              </a:rPr>
              <a:t>데이터 통신과 컴퓨터 네트워크</a:t>
            </a:r>
            <a:r>
              <a:rPr lang="en-US" altLang="ko-KR" b="0" dirty="0" smtClean="0">
                <a:ea typeface="HY헤드라인M" pitchFamily="18" charset="-127"/>
              </a:rPr>
              <a:t>)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616380" y="475360"/>
            <a:ext cx="2437133" cy="25736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292100" indent="-292100" algn="r">
              <a:lnSpc>
                <a:spcPct val="100000"/>
              </a:lnSpc>
              <a:spcBef>
                <a:spcPct val="0"/>
              </a:spcBef>
              <a:buNone/>
              <a:tabLst>
                <a:tab pos="292100" algn="l"/>
                <a:tab pos="685800" algn="l"/>
              </a:tabLst>
            </a:pPr>
            <a:r>
              <a:rPr lang="en-US" altLang="ko-KR" sz="1200" b="0" dirty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Overview of Data Communications</a:t>
            </a:r>
            <a:endParaRPr lang="en-US" altLang="ko-KR" sz="1200" b="0" dirty="0">
              <a:solidFill>
                <a:srgbClr val="0066CC"/>
              </a:solidFill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Page </a:t>
            </a:r>
            <a:fld id="{48BF766F-2203-48E2-A18D-310FAC3A4627}" type="slidenum">
              <a:rPr lang="en-US" altLang="ko-KR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697347" name="Rectangle 3"/>
          <p:cNvSpPr>
            <a:spLocks noChangeArrowheads="1"/>
          </p:cNvSpPr>
          <p:nvPr/>
        </p:nvSpPr>
        <p:spPr bwMode="auto">
          <a:xfrm>
            <a:off x="815975" y="163513"/>
            <a:ext cx="454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ko-KR" altLang="en-US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강의 계획</a:t>
            </a:r>
            <a:r>
              <a:rPr lang="en-US" altLang="ko-KR" sz="2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HY헤드라인M" pitchFamily="18" charset="-127"/>
              </a:rPr>
              <a:t>(3/3)</a:t>
            </a:r>
          </a:p>
        </p:txBody>
      </p:sp>
      <p:sp>
        <p:nvSpPr>
          <p:cNvPr id="7173" name="Text Box 49"/>
          <p:cNvSpPr txBox="1">
            <a:spLocks noChangeArrowheads="1"/>
          </p:cNvSpPr>
          <p:nvPr/>
        </p:nvSpPr>
        <p:spPr bwMode="auto">
          <a:xfrm>
            <a:off x="323850" y="980728"/>
            <a:ext cx="8569325" cy="3298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>
            <a:spAutoFit/>
          </a:bodyPr>
          <a:lstStyle/>
          <a:p>
            <a:pPr marL="292100" indent="-2921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Blip>
                <a:blip r:embed="rId3"/>
              </a:buBlip>
              <a:tabLst>
                <a:tab pos="268288" algn="l"/>
              </a:tabLst>
            </a:pPr>
            <a:r>
              <a:rPr lang="ko-KR" altLang="en-US" sz="2000" b="0" dirty="0" smtClean="0">
                <a:ea typeface="HY헤드라인M" pitchFamily="18" charset="-127"/>
              </a:rPr>
              <a:t>강의 내용</a:t>
            </a:r>
            <a:endParaRPr lang="en-US" altLang="ko-KR" b="0" dirty="0" smtClean="0">
              <a:ea typeface="HY헤드라인M" pitchFamily="18" charset="-127"/>
            </a:endParaRP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Chapter 1 </a:t>
            </a:r>
            <a:r>
              <a:rPr lang="ko-KR" altLang="en-US" b="0" dirty="0">
                <a:solidFill>
                  <a:srgbClr val="FF0000"/>
                </a:solidFill>
                <a:ea typeface="HY헤드라인M" pitchFamily="18" charset="-127"/>
              </a:rPr>
              <a:t>컴퓨터 네트워크와 인터넷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Chapter 2 </a:t>
            </a:r>
            <a:r>
              <a:rPr lang="ko-KR" altLang="en-US" b="0" dirty="0">
                <a:solidFill>
                  <a:srgbClr val="FF0000"/>
                </a:solidFill>
                <a:ea typeface="HY헤드라인M" pitchFamily="18" charset="-127"/>
              </a:rPr>
              <a:t>애플리케이션 계층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Chapter 3 </a:t>
            </a:r>
            <a:r>
              <a:rPr lang="ko-KR" altLang="en-US" b="0" dirty="0">
                <a:solidFill>
                  <a:srgbClr val="FF0000"/>
                </a:solidFill>
                <a:ea typeface="HY헤드라인M" pitchFamily="18" charset="-127"/>
              </a:rPr>
              <a:t>트랜스포트 계층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solidFill>
                  <a:srgbClr val="FF0000"/>
                </a:solidFill>
                <a:ea typeface="HY헤드라인M" pitchFamily="18" charset="-127"/>
              </a:rPr>
              <a:t>Chapter 4 </a:t>
            </a:r>
            <a:r>
              <a:rPr lang="ko-KR" altLang="en-US" b="0" dirty="0">
                <a:solidFill>
                  <a:srgbClr val="FF0000"/>
                </a:solidFill>
                <a:ea typeface="HY헤드라인M" pitchFamily="18" charset="-127"/>
              </a:rPr>
              <a:t>네트워크 계층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ea typeface="HY헤드라인M" pitchFamily="18" charset="-127"/>
              </a:rPr>
              <a:t>Chapter 5 </a:t>
            </a:r>
            <a:r>
              <a:rPr lang="ko-KR" altLang="en-US" b="0" dirty="0">
                <a:ea typeface="HY헤드라인M" pitchFamily="18" charset="-127"/>
              </a:rPr>
              <a:t>링크 계층 </a:t>
            </a:r>
            <a:r>
              <a:rPr lang="en-US" altLang="ko-KR" b="0" dirty="0">
                <a:ea typeface="HY헤드라인M" pitchFamily="18" charset="-127"/>
              </a:rPr>
              <a:t>: </a:t>
            </a:r>
            <a:r>
              <a:rPr lang="ko-KR" altLang="en-US" b="0" dirty="0">
                <a:ea typeface="HY헤드라인M" pitchFamily="18" charset="-127"/>
              </a:rPr>
              <a:t>링크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>
                <a:ea typeface="HY헤드라인M" pitchFamily="18" charset="-127"/>
              </a:rPr>
              <a:t>접속망</a:t>
            </a:r>
            <a:r>
              <a:rPr lang="en-US" altLang="ko-KR" b="0" dirty="0">
                <a:ea typeface="HY헤드라인M" pitchFamily="18" charset="-127"/>
              </a:rPr>
              <a:t>, </a:t>
            </a:r>
            <a:r>
              <a:rPr lang="ko-KR" altLang="en-US" b="0" dirty="0" err="1">
                <a:ea typeface="HY헤드라인M" pitchFamily="18" charset="-127"/>
              </a:rPr>
              <a:t>랜</a:t>
            </a:r>
            <a:r>
              <a:rPr lang="ko-KR" altLang="en-US" b="0" dirty="0">
                <a:ea typeface="HY헤드라인M" pitchFamily="18" charset="-127"/>
              </a:rPr>
              <a:t>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ea typeface="HY헤드라인M" pitchFamily="18" charset="-127"/>
              </a:rPr>
              <a:t>Chapter 6 </a:t>
            </a:r>
            <a:r>
              <a:rPr lang="ko-KR" altLang="en-US" b="0" dirty="0">
                <a:ea typeface="HY헤드라인M" pitchFamily="18" charset="-127"/>
              </a:rPr>
              <a:t>무선과 이동 네트워크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ea typeface="HY헤드라인M" pitchFamily="18" charset="-127"/>
              </a:rPr>
              <a:t>Chapter 7 </a:t>
            </a:r>
            <a:r>
              <a:rPr lang="ko-KR" altLang="en-US" b="0" dirty="0">
                <a:ea typeface="HY헤드라인M" pitchFamily="18" charset="-127"/>
              </a:rPr>
              <a:t>멀티미디어 네트워킹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ea typeface="HY헤드라인M" pitchFamily="18" charset="-127"/>
              </a:rPr>
              <a:t>Chapter 8 </a:t>
            </a:r>
            <a:r>
              <a:rPr lang="ko-KR" altLang="en-US" b="0" dirty="0">
                <a:ea typeface="HY헤드라인M" pitchFamily="18" charset="-127"/>
              </a:rPr>
              <a:t>컴퓨터 네트워크 보안 </a:t>
            </a:r>
          </a:p>
          <a:p>
            <a:pPr marL="530225" lvl="1" indent="-236538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FontTx/>
              <a:buChar char="•"/>
              <a:tabLst>
                <a:tab pos="268288" algn="l"/>
              </a:tabLst>
            </a:pPr>
            <a:r>
              <a:rPr lang="en-US" altLang="ko-KR" b="0" dirty="0">
                <a:ea typeface="HY헤드라인M" pitchFamily="18" charset="-127"/>
              </a:rPr>
              <a:t>Chapter 9 </a:t>
            </a:r>
            <a:r>
              <a:rPr lang="ko-KR" altLang="en-US" b="0" dirty="0">
                <a:ea typeface="HY헤드라인M" pitchFamily="18" charset="-127"/>
              </a:rPr>
              <a:t>네트워크 </a:t>
            </a:r>
            <a:r>
              <a:rPr lang="ko-KR" altLang="en-US" b="0" dirty="0" smtClean="0">
                <a:ea typeface="HY헤드라인M" pitchFamily="18" charset="-127"/>
              </a:rPr>
              <a:t>관리</a:t>
            </a:r>
            <a:endParaRPr lang="ko-KR" altLang="en-US" sz="1800" b="0" dirty="0">
              <a:solidFill>
                <a:schemeClr val="accent2"/>
              </a:solidFill>
              <a:ea typeface="HY헤드라인M" pitchFamily="18" charset="-127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616380" y="475360"/>
            <a:ext cx="2437133" cy="25736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292100" indent="-292100" algn="r">
              <a:lnSpc>
                <a:spcPct val="100000"/>
              </a:lnSpc>
              <a:spcBef>
                <a:spcPct val="0"/>
              </a:spcBef>
              <a:buNone/>
              <a:tabLst>
                <a:tab pos="292100" algn="l"/>
                <a:tab pos="685800" algn="l"/>
              </a:tabLst>
            </a:pPr>
            <a:r>
              <a:rPr lang="en-US" altLang="ko-KR" sz="1200" b="0" dirty="0">
                <a:solidFill>
                  <a:srgbClr val="0066CC"/>
                </a:solidFill>
                <a:ea typeface="HY헤드라인M" pitchFamily="18" charset="-127"/>
                <a:sym typeface="Wingdings" pitchFamily="2" charset="2"/>
              </a:rPr>
              <a:t>Overview of Data Communications</a:t>
            </a:r>
            <a:endParaRPr lang="en-US" altLang="ko-KR" sz="1200" b="0" dirty="0">
              <a:solidFill>
                <a:srgbClr val="0066CC"/>
              </a:solidFill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80808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  <a:spAutoFit/>
      </a:bodyPr>
      <a:lstStyle>
        <a:defPPr marL="292100" marR="0" indent="-292100" algn="l" defTabSz="914400" rtl="0" eaLnBrk="1" fontAlgn="ctr" latinLnBrk="1" hangingPunct="1">
          <a:lnSpc>
            <a:spcPct val="140000"/>
          </a:lnSpc>
          <a:spcBef>
            <a:spcPct val="20000"/>
          </a:spcBef>
          <a:spcAft>
            <a:spcPct val="0"/>
          </a:spcAft>
          <a:buClr>
            <a:srgbClr val="660066"/>
          </a:buClr>
          <a:buSzTx/>
          <a:buFont typeface="Wingdings" pitchFamily="2" charset="2"/>
          <a:buChar char="v"/>
          <a:tabLst>
            <a:tab pos="292100" algn="l"/>
            <a:tab pos="685800" algn="l"/>
          </a:tabLst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80808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  <a:spAutoFit/>
      </a:bodyPr>
      <a:lstStyle>
        <a:defPPr marL="292100" marR="0" indent="-292100" algn="l" defTabSz="914400" rtl="0" eaLnBrk="1" fontAlgn="ctr" latinLnBrk="1" hangingPunct="1">
          <a:lnSpc>
            <a:spcPct val="140000"/>
          </a:lnSpc>
          <a:spcBef>
            <a:spcPct val="20000"/>
          </a:spcBef>
          <a:spcAft>
            <a:spcPct val="0"/>
          </a:spcAft>
          <a:buClr>
            <a:srgbClr val="660066"/>
          </a:buClr>
          <a:buSzTx/>
          <a:buFont typeface="Wingdings" pitchFamily="2" charset="2"/>
          <a:buChar char="v"/>
          <a:tabLst>
            <a:tab pos="292100" algn="l"/>
            <a:tab pos="685800" algn="l"/>
          </a:tabLst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체" pitchFamily="49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80808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  <a:spAutoFit/>
      </a:bodyPr>
      <a:lstStyle>
        <a:defPPr marL="292100" marR="0" indent="-292100" algn="l" defTabSz="914400" rtl="0" eaLnBrk="1" fontAlgn="ctr" latinLnBrk="1" hangingPunct="1">
          <a:lnSpc>
            <a:spcPct val="140000"/>
          </a:lnSpc>
          <a:spcBef>
            <a:spcPct val="20000"/>
          </a:spcBef>
          <a:spcAft>
            <a:spcPct val="0"/>
          </a:spcAft>
          <a:buClr>
            <a:srgbClr val="660066"/>
          </a:buClr>
          <a:buSzTx/>
          <a:buFont typeface="Wingdings" pitchFamily="2" charset="2"/>
          <a:buChar char="v"/>
          <a:tabLst>
            <a:tab pos="292100" algn="l"/>
            <a:tab pos="685800" algn="l"/>
          </a:tabLst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80808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  <a:spAutoFit/>
      </a:bodyPr>
      <a:lstStyle>
        <a:defPPr marL="292100" marR="0" indent="-292100" algn="l" defTabSz="914400" rtl="0" eaLnBrk="1" fontAlgn="ctr" latinLnBrk="1" hangingPunct="1">
          <a:lnSpc>
            <a:spcPct val="140000"/>
          </a:lnSpc>
          <a:spcBef>
            <a:spcPct val="20000"/>
          </a:spcBef>
          <a:spcAft>
            <a:spcPct val="0"/>
          </a:spcAft>
          <a:buClr>
            <a:srgbClr val="660066"/>
          </a:buClr>
          <a:buSzTx/>
          <a:buFont typeface="Wingdings" pitchFamily="2" charset="2"/>
          <a:buChar char="v"/>
          <a:tabLst>
            <a:tab pos="292100" algn="l"/>
            <a:tab pos="685800" algn="l"/>
          </a:tabLst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체" pitchFamily="49" charset="-127"/>
          </a:defRPr>
        </a:defPPr>
      </a:lst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13400</TotalTime>
  <Words>484</Words>
  <Application>Microsoft Office PowerPoint</Application>
  <PresentationFormat>화면 슬라이드 쇼(4:3)</PresentationFormat>
  <Paragraphs>73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HY헤드라인M</vt:lpstr>
      <vt:lpstr>굴림</vt:lpstr>
      <vt:lpstr>굴림체</vt:lpstr>
      <vt:lpstr>Symbol</vt:lpstr>
      <vt:lpstr>Times New Roman</vt:lpstr>
      <vt:lpstr>Trebuchet MS</vt:lpstr>
      <vt:lpstr>Wingdings</vt:lpstr>
      <vt:lpstr>기본 디자인</vt:lpstr>
      <vt:lpstr>2_기본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</dc:title>
  <dc:creator>문양세</dc:creator>
  <cp:lastModifiedBy>mjchoi</cp:lastModifiedBy>
  <cp:revision>1330</cp:revision>
  <dcterms:created xsi:type="dcterms:W3CDTF">2003-03-03T08:07:33Z</dcterms:created>
  <dcterms:modified xsi:type="dcterms:W3CDTF">2020-03-15T09:04:42Z</dcterms:modified>
</cp:coreProperties>
</file>