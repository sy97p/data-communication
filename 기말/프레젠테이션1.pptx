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486" r:id="rId2"/>
    <p:sldId id="487" r:id="rId3"/>
    <p:sldId id="488" r:id="rId4"/>
    <p:sldId id="489" r:id="rId5"/>
    <p:sldId id="490" r:id="rId6"/>
    <p:sldId id="491" r:id="rId7"/>
    <p:sldId id="492" r:id="rId8"/>
    <p:sldId id="493" r:id="rId9"/>
    <p:sldId id="494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0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3F7B4-3013-4B8E-9A8D-BEDDB1699CC3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33F58-CE27-4D89-8C2F-BC10D61C2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25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D1912912-F7E5-4AA8-B32A-02F0DA3924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F0B9A0EC-E976-4391-BC1D-60D07BFE7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2F43C570-C91E-44B7-9E5D-E406C10A2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766B56-8570-4467-A63A-C0CF1D48F53F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3D13EC33-E638-4D91-AFB8-1E0859EF03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5CDB7936-F8B6-4E6B-AC89-D077E83E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A9168EF0-C07D-4E3F-92A1-D29556CFF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0E89715-D7A3-479B-B08F-FA0B0AFC6116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D7213246-6CA4-45C4-AE1E-E02352BB95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713E82CD-3F2D-417F-8D9F-481A2D86A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35E2EEA6-B625-49F7-9609-D459EF1C6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6D04AC-7B58-4D52-AE2E-E69254D1953E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E3F1D92-950F-482A-82C2-0BD751B9EE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12736A5-23AB-4F64-83CD-75BA6D23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45A9CFB-DFD2-4D49-A19D-9D8BDD003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E88D7B-4E77-4760-9CA9-E0F7AD9FA8FA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B4EDA2A8-2104-47FE-BDAD-9BF2E6696D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5446703A-AF0E-49A4-8077-3A67ADE3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3D90A6D1-6632-4B16-9814-A01C65625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1BA8D1-3818-4597-9B4C-6A8E52692645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754A95E5-3F77-4467-B124-5182B2DD68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2B0E53C0-3016-47B0-AAFF-18C7E7A2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6A0D1EB2-2053-4DBC-A878-EE6B4CD01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8FD70EE-33EB-4457-ACE2-CF6A831216C4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43CD444B-3C60-48F4-9B30-A70C83EB23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47A50A5F-F57A-4CC1-8BAC-0F6B81E88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7FB43656-4E39-4B0B-9026-DD396E10B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12F803-0484-4364-BDB2-82CED7AE72A3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7B5B6C1E-43A1-460E-A10F-9A16833966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69436031-831B-4623-82DC-9F4D11CC7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A9F5FE3A-2B42-4208-81E6-40E1FC0DF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6A23B5-6752-4BC2-8F7F-DC6D6B866487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2B5AAFA-BBFF-4E83-BF74-2D62111FF6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08DCB2B-4D7E-4DF8-A64C-C28A66E7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419ECBD-4578-4B47-BCE1-CD244D805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4207E5-ABFE-49C2-AFD6-69ED002C51BE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9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5460D990-8945-44DE-A578-B01D84CE38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90526E26-5F16-419D-A739-D23A0004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728979F3-3130-4B0A-89EC-9ABC25BE6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ED2F10-3E39-462E-A2AF-19072CDBE6F8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10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B5FF8063-C40B-498F-A640-AD95A9D1F0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096F8812-28DF-4BA8-9232-A6BACC9E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AEE0CABE-A964-4D75-97B0-A6D93CA7B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D0E8768-F419-421A-AAEC-E35E8753E65F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11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FC59608A-18F6-4A56-ACF6-E16CEC1A32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CF2AA610-F4B4-491B-9EA8-D931173E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EAD231AE-B7F2-412F-9952-A36602EDB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3BE61D-A203-4E8A-AA2E-3A3B01B338D8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12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55422F7C-E469-4BDC-83FF-F0FD1D8132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14E99E12-8DDA-4302-A77A-E6D06B5C2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20C5E12D-7C2E-4C86-B9E9-52992994E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8DEB93-A725-4F4B-837D-64DCE81AC308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13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1B1F62EA-4333-4580-AF74-2427B76145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0A7969CD-5CD1-4E97-84AD-95974E94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59554449-445A-48D3-9037-880A78165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7148D1F-9F03-41B4-9545-1C440AE34655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14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F5968B2D-6610-4FE9-B447-6A74B08BF2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BA2744D-2C04-4FEC-A3AA-E9A7924E8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1C8439FA-7B3B-43D5-9E18-3AE5F10B4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E44FE7-ACAA-421F-AF47-8B245C38E3A9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17B9483E-43EA-4028-81E3-579EDAA07C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3FE46551-5CF3-45B0-8D59-92CF805DF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D6E6769C-71F7-49F1-95BE-E73BB4122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E882BA-F761-481B-AE03-2562DF81C4B3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16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CF8E4C0D-CECD-496D-BA1C-0A7520ADC6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98E4A36E-1FB1-4ECB-ADB8-347EAE76D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C14EC42C-716A-49B6-9CCA-50303108A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F225F4-6AF0-42E6-9078-33A48EFBB11E}" type="slidenum">
              <a:rPr lang="en-US" altLang="ko-KR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ko-KR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71D2C-42D1-415F-B698-B8293CDB2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1F3B47-2591-42FB-8099-1B35D4706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1D8D66-215D-4F36-BC04-757F97F6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2AE4EF-A128-4F4B-9668-ADDC146A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BD3AB-0A6F-4F5C-89A7-56C8B2C1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37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72ADA-3341-4759-93B0-44EE2A28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B9D7A5-8E79-42CC-B0FA-0A19A81EB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4A5F5-C601-4FC0-A4FE-D9660120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71D0F-277C-4958-8263-D7C70792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36635-F65B-4C63-BE21-AC9C5DFE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27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65FB4-F9F3-4B82-9F1B-E3DAF625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B2EC3D-476D-4B4B-B4F4-6B2865C0F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22F0C-B6D7-4428-B30D-59635F60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CA00-E943-470E-A72D-2307B975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AE219-62B3-4056-BEC8-33DE744F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41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5CA56-7401-4A99-8EB6-AD29DDDF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F1107-9F19-40F6-941E-2DC48FC49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E9026E-0288-45A7-B9D4-347E96638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A8D595-07C8-4810-AA4A-FAB63D4B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525788-FB5A-4CFB-9C31-31B76621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06CF4A-F59C-4DD4-A0ED-BE91CF62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11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104DC-E2C1-4B1B-BEF1-D2108EEC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078CB3-7AE0-4663-A3EC-F2B52AE54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2731B8-56B8-446D-93E2-108AB1F9D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5DA7BA-CF63-444F-BD30-8F4F208C8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0365B6-7962-420D-BDF6-80BD4C41C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601B78-7246-412D-A53E-B7FE1975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79F513-5AEF-4D71-8668-48B5F519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A1094C-04B1-4B4F-9EDF-9DF6D89F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80F6B-8ED3-4062-8572-FE03004D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1F3D22-F3EC-454D-9600-962B3D0A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7B8057-0970-4A23-8C70-E7962A4D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D07EB4-7881-4C9F-91DC-49EB9A45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26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18A0E2-0EE0-4334-8AA0-2F1F9787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1C320E-0B1B-44DB-B6B6-7AD01E67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15966-6FED-4505-83B5-98070C7D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15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F2FE2-7D55-4CDF-B4A0-AB2E183A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DC0508-B506-433B-BC3F-C5832AB62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BDA942-F25B-4AF8-A390-086BD5E2E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81147-F47B-4900-8EE8-A2E19B3D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A4873-D854-4565-96F9-E6924093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17E549-BA8B-4DC3-810C-106737F8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65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82F9A-C7F1-44E2-A3ED-4BA426BD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CF04F5-BD91-484C-8507-689FF9CF1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A9B82E-2E6E-4033-BF4F-BC1EE3247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28FF1-ED81-4A7C-AEA0-E754E86E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C83010-A1CC-437D-AC98-07291983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F2601-4E40-4530-92ED-77B47F63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2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A57F2-3A1A-482B-9796-2C9B668F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3A8485-477A-4F16-806C-34859394D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A100D5-E068-4246-BF02-15446814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1B275-A88F-4EC6-9EB1-A022E9F7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924D8-62AD-4D28-9F0B-965DAEF9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1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45BCE7-38F1-4A0B-BFE9-24D2A3BD4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E8BCD-36CD-4FFB-9A58-2F86CE01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C8A933-9AF8-4906-AA16-ADF1461D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B5BD9-6ADF-477F-A8D3-AEB5C657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6A572-90C3-4D9D-B834-215DA36F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23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2517C3-3DFD-4C80-BDD3-6E978CE4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6F7789-E78A-4281-BC52-847B10D3F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E95B1-7DF7-48E0-AFC7-70D6EA955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05B44-C0BC-4223-B1D4-9330512CF57D}" type="datetimeFigureOut">
              <a:rPr lang="ko-KR" altLang="en-US" smtClean="0"/>
              <a:t>2020-06-20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4E13B-1B87-4DCD-8813-78C228998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48FE1-9090-4EDF-B0AE-880F9C7A8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33686-A2DB-4F7F-9977-FF33BBA5A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61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1B6D512-8175-431A-9E57-CB3A3179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0243" name="슬라이드 번호 개체 틀 2">
            <a:extLst>
              <a:ext uri="{FF2B5EF4-FFF2-40B4-BE49-F238E27FC236}">
                <a16:creationId xmlns:a16="http://schemas.microsoft.com/office/drawing/2014/main" id="{87F03600-A059-4F19-97AA-2D2E7F11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2-1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F7AABCD1-6D93-459B-8453-276B3E82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328613"/>
            <a:ext cx="88011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UPD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소켓이 어떻게 완벽하게 식별되는가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TCP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소켓의 경우는 어떤가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두 소켓의 완벽한 식별 간에는 어떤 차이가 있는가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endParaRPr lang="en-US" altLang="ko-KR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UDP 소켓은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IP 주소와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포트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번호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로 완전히 식별됩니다. 대신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에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TCP 소켓은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출발지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IP 주소,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출발지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포트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번호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IP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주소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와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포트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번호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로 완전히 식별됩니다. 이것은 </a:t>
            </a:r>
            <a:r>
              <a:rPr lang="ko-KR" altLang="ko-KR" sz="2800" dirty="0" err="1">
                <a:solidFill>
                  <a:schemeClr val="accent6"/>
                </a:solidFill>
                <a:latin typeface="Arial" panose="020B0604020202020204" pitchFamily="34" charset="0"/>
              </a:rPr>
              <a:t>TCP가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송신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자와 수신자 사이에 양방향 </a:t>
            </a:r>
            <a:r>
              <a:rPr lang="ko-KR" altLang="ko-KR" sz="2800" dirty="0" err="1">
                <a:solidFill>
                  <a:schemeClr val="accent6"/>
                </a:solidFill>
                <a:latin typeface="Arial" panose="020B0604020202020204" pitchFamily="34" charset="0"/>
              </a:rPr>
              <a:t>전이중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(full-duplex)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세션을 설정함에 따라 발생합니다.</a:t>
            </a:r>
            <a:endParaRPr lang="en-US" altLang="ko-KR" sz="2800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ACD912C-B7FF-47A2-AABC-E51D2D53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2291" name="슬라이드 번호 개체 틀 2">
            <a:extLst>
              <a:ext uri="{FF2B5EF4-FFF2-40B4-BE49-F238E27FC236}">
                <a16:creationId xmlns:a16="http://schemas.microsoft.com/office/drawing/2014/main" id="{2475B40C-D02B-43E0-98C3-4F2689FE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2-1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E404699A-D4FF-4036-95C5-BA9DBC2EF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328613"/>
            <a:ext cx="88011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2"/>
              <a:defRPr/>
            </a:pPr>
            <a:r>
              <a:rPr lang="ko-KR" altLang="en-US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왜 어플리케이션 개발자들이 </a:t>
            </a:r>
            <a:r>
              <a:rPr lang="en-US" altLang="ko-KR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TCP</a:t>
            </a:r>
            <a:r>
              <a:rPr lang="ko-KR" altLang="en-US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보다는 </a:t>
            </a:r>
            <a:r>
              <a:rPr lang="en-US" altLang="ko-KR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UDP</a:t>
            </a:r>
            <a:r>
              <a:rPr lang="ko-KR" altLang="en-US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상에서 어플리케이션을 구동하는 것을 선택하는지 설명하시오</a:t>
            </a:r>
            <a:r>
              <a:rPr lang="en-US" altLang="ko-KR" sz="24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en-US" altLang="ko-KR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2"/>
              <a:defRPr/>
            </a:pPr>
            <a:endParaRPr lang="en-US" altLang="ko-KR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 개발자는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프로그램이 TCP 혼잡 제어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(congestion control)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를 사용하지 않기를 원할 수 있습니다. 혼잡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이 발생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시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필요하면 전송 계층이 아닌 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프로그램의 전송 속도를 조절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하도록 제어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할 수 있습니다. 종종 IP 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telephony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및 IP 화상 회의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(conference)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 디자이너는 TCP 혼잡 제어를 피하기 위해 </a:t>
            </a:r>
            <a:r>
              <a:rPr lang="ko-KR" altLang="ko-KR" dirty="0" err="1">
                <a:solidFill>
                  <a:schemeClr val="accent6"/>
                </a:solidFill>
                <a:latin typeface="Arial" panose="020B0604020202020204" pitchFamily="34" charset="0"/>
              </a:rPr>
              <a:t>UDP를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통해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프로그램을 실행하려고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합니다. 또한 일부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어플리케이션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프로그램에서는 보낸 사람과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받는 사람 간의 </a:t>
            </a:r>
            <a:r>
              <a:rPr lang="ko-KR" altLang="ko-KR" dirty="0" err="1">
                <a:solidFill>
                  <a:schemeClr val="accent6"/>
                </a:solidFill>
                <a:latin typeface="Arial" panose="020B0604020202020204" pitchFamily="34" charset="0"/>
              </a:rPr>
              <a:t>TCP</a:t>
            </a:r>
            <a:r>
              <a:rPr lang="ko-KR" altLang="en-US" dirty="0" err="1">
                <a:solidFill>
                  <a:schemeClr val="accent6"/>
                </a:solidFill>
                <a:latin typeface="Arial" panose="020B0604020202020204" pitchFamily="34" charset="0"/>
              </a:rPr>
              <a:t>의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양방향 </a:t>
            </a:r>
            <a:r>
              <a:rPr lang="ko-KR" altLang="ko-KR" dirty="0" err="1">
                <a:solidFill>
                  <a:schemeClr val="accent6"/>
                </a:solidFill>
                <a:latin typeface="Arial" panose="020B0604020202020204" pitchFamily="34" charset="0"/>
              </a:rPr>
              <a:t>전이중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 세션에서 제공하는 안정적인 데이터 전송이 필요하지 않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은 경우가 있으므로 복잡하고 또한 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TCP 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연결을 맺기 위한 </a:t>
            </a:r>
            <a:r>
              <a:rPr lang="ko-KR" altLang="en-US" dirty="0" err="1">
                <a:solidFill>
                  <a:schemeClr val="accent6"/>
                </a:solidFill>
                <a:latin typeface="Arial" panose="020B0604020202020204" pitchFamily="34" charset="0"/>
              </a:rPr>
              <a:t>쓰리웨이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 err="1">
                <a:solidFill>
                  <a:schemeClr val="accent6"/>
                </a:solidFill>
                <a:latin typeface="Arial" panose="020B0604020202020204" pitchFamily="34" charset="0"/>
              </a:rPr>
              <a:t>핸드셰이킹을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 피하기 위해 간단한 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UDP</a:t>
            </a:r>
            <a:r>
              <a:rPr lang="ko-KR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를 사용합</a:t>
            </a:r>
            <a:r>
              <a:rPr lang="ko-KR" altLang="ko-KR" dirty="0">
                <a:solidFill>
                  <a:schemeClr val="accent6"/>
                </a:solidFill>
                <a:latin typeface="Arial" panose="020B0604020202020204" pitchFamily="34" charset="0"/>
              </a:rPr>
              <a:t>니다.</a:t>
            </a:r>
            <a:endParaRPr lang="en-US" altLang="ko-KR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54CA715-3E6C-4C5A-8B9E-438BF0B3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4339" name="슬라이드 번호 개체 틀 2">
            <a:extLst>
              <a:ext uri="{FF2B5EF4-FFF2-40B4-BE49-F238E27FC236}">
                <a16:creationId xmlns:a16="http://schemas.microsoft.com/office/drawing/2014/main" id="{939A83DB-BCA5-465E-955D-4B299A47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2-1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2D26326F-21F9-4D6F-92AB-2110AD4D8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328614"/>
            <a:ext cx="88011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3"/>
              <a:defRPr/>
            </a:pP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어플리케이션이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UDP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상에서 구동될 때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신뢰적인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데이터 전송을 향유할 수 있을까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만약 그렇다면 어떻게 가능한가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3"/>
              <a:defRPr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예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가능합니다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어플리케이션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프로그램 개발자는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필요하면 어플리케이션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프로그램 계층 프로토콜로 안정적인 데이터 전송을 수행 할 수 있습니다.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즉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전송 계층에서 수행하는 일을 어플리케이션 계층 프로토콜에서 구현해야 합니다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.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그러나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이것은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상당한 양의 작업과 디버깅이 필요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한 복잡한 작업입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니다.</a:t>
            </a:r>
            <a:endParaRPr lang="en-US" altLang="ko-KR" sz="2800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2964B1A-31F2-4509-B227-7F5CE8BE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6387" name="슬라이드 번호 개체 틀 2">
            <a:extLst>
              <a:ext uri="{FF2B5EF4-FFF2-40B4-BE49-F238E27FC236}">
                <a16:creationId xmlns:a16="http://schemas.microsoft.com/office/drawing/2014/main" id="{2F2A82C2-729D-4558-A8F7-D55994D1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2-1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2FCD82E6-8F37-4DA7-80A7-34EAADFB3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328613"/>
            <a:ext cx="88011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4"/>
              <a:defRPr/>
            </a:pP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웹 서버가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 포트로 호스트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에서 실행된다고 가정합시다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웹 서버가 지속적인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(persistent)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연결을 사용하고 있고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현재 다른 두 호스트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와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로부터 요청을 받고 있다고 가정합시다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모든 요청은 호스트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 같은 소켓으로 받아지는가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다른 소켓을 통해 받는다면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그 소켓 모두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 포트를 가지는가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설명하시오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4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28650" lvl="1" indent="-342900">
              <a:lnSpc>
                <a:spcPct val="1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à"/>
              <a:defRPr/>
            </a:pP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웹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서버는 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각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연속적인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(persistent)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연결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요청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에 대해 별도의 "연결 소켓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(connection socket)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"을 만듭니다. 각 연결 소켓은 4개의 </a:t>
            </a:r>
            <a:r>
              <a:rPr lang="ko-KR" altLang="ko-KR" sz="2000" dirty="0" err="1">
                <a:solidFill>
                  <a:schemeClr val="accent6"/>
                </a:solidFill>
                <a:latin typeface="Arial" panose="020B0604020202020204" pitchFamily="34" charset="0"/>
              </a:rPr>
              <a:t>튜플로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식별됩니다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.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(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출발지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IP 주소,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출발지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포트 번호,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IP 주소,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포트 번호). 호스트 </a:t>
            </a:r>
            <a:r>
              <a:rPr lang="ko-KR" altLang="ko-KR" sz="2000" dirty="0" err="1">
                <a:solidFill>
                  <a:schemeClr val="accent6"/>
                </a:solidFill>
                <a:latin typeface="Arial" panose="020B0604020202020204" pitchFamily="34" charset="0"/>
              </a:rPr>
              <a:t>C는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IP 데이터 그램을 수신하고 </a:t>
            </a:r>
            <a:r>
              <a:rPr lang="ko-KR" altLang="ko-KR" sz="2000" dirty="0" err="1">
                <a:solidFill>
                  <a:schemeClr val="accent6"/>
                </a:solidFill>
                <a:latin typeface="Arial" panose="020B0604020202020204" pitchFamily="34" charset="0"/>
              </a:rPr>
              <a:t>데이터그램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/ 세그먼트에서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이 4개의 필드를 검사하여 TCP 세그먼트의 페이로드를 통과해야하는 소켓을 결정합니다. 따라서 </a:t>
            </a:r>
            <a:r>
              <a:rPr lang="ko-KR" altLang="ko-KR" sz="2000" dirty="0" err="1">
                <a:solidFill>
                  <a:schemeClr val="accent6"/>
                </a:solidFill>
                <a:latin typeface="Arial" panose="020B0604020202020204" pitchFamily="34" charset="0"/>
              </a:rPr>
              <a:t>A와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accent6"/>
                </a:solidFill>
                <a:latin typeface="Arial" panose="020B0604020202020204" pitchFamily="34" charset="0"/>
              </a:rPr>
              <a:t>B의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요청은 다른 소켓을 통과합니다.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왜냐하면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이 두 소켓의 식별자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의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목적지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포트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번호는 모두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80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으로 같지만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,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이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두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소켓의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출발지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IP 주소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가 다르기 때문에 서로 다른 소켓으로 식별됩니다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. TCP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는 연결 요청을 듣는 소켓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(listening socket)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이 있고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chemeClr val="accent6"/>
                </a:solidFill>
                <a:latin typeface="Arial" panose="020B0604020202020204" pitchFamily="34" charset="0"/>
              </a:rPr>
              <a:t>클라이언트 마다 연결을 맺는 연결 소켓이 따로 존재합니다</a:t>
            </a:r>
            <a:r>
              <a:rPr lang="en-US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.</a:t>
            </a:r>
            <a:r>
              <a:rPr lang="ko-KR" altLang="ko-KR" sz="20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endParaRPr lang="en-US" altLang="ko-KR" sz="2000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AB442AC-9C09-49C3-9305-150F275D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8435" name="슬라이드 번호 개체 틀 2">
            <a:extLst>
              <a:ext uri="{FF2B5EF4-FFF2-40B4-BE49-F238E27FC236}">
                <a16:creationId xmlns:a16="http://schemas.microsoft.com/office/drawing/2014/main" id="{7004BB1A-DFAE-4F37-A7F8-00D4104E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2-1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444182D7-8D83-4475-8F1B-A160242BD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328614"/>
            <a:ext cx="8801100" cy="248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5"/>
              <a:defRPr/>
            </a:pPr>
            <a:r>
              <a:rPr lang="en-US" altLang="ko-KR" dirty="0" err="1">
                <a:solidFill>
                  <a:srgbClr val="000000"/>
                </a:solidFill>
                <a:latin typeface="Arial" panose="020B0604020202020204" pitchFamily="34" charset="0"/>
              </a:rPr>
              <a:t>rdt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프로토콜에서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순서 번호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(sequence number)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를 왜 도입하는가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즉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왜 필요한가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5"/>
              <a:defRPr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1" indent="0">
              <a:spcBef>
                <a:spcPct val="0"/>
              </a:spcBef>
              <a:buClrTx/>
              <a:buNone/>
              <a:defRPr/>
            </a:pP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순서 번호</a:t>
            </a:r>
            <a:r>
              <a:rPr lang="en-US" altLang="ko-KR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(sequence number)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는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수신자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에게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도착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한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패킷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이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새로운 데이터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인지 아니면 오류가 있어서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재전송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된 데이터인지를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확인하</a:t>
            </a:r>
            <a:r>
              <a:rPr lang="ko-KR" altLang="en-US" sz="2800" dirty="0">
                <a:solidFill>
                  <a:schemeClr val="accent6"/>
                </a:solidFill>
                <a:latin typeface="Arial" panose="020B0604020202020204" pitchFamily="34" charset="0"/>
              </a:rPr>
              <a:t>기 위해 </a:t>
            </a:r>
            <a:r>
              <a:rPr lang="ko-KR" altLang="ko-KR" sz="2800" dirty="0">
                <a:solidFill>
                  <a:schemeClr val="accent6"/>
                </a:solidFill>
                <a:latin typeface="Arial" panose="020B0604020202020204" pitchFamily="34" charset="0"/>
              </a:rPr>
              <a:t> 필요합니다.</a:t>
            </a:r>
            <a:endParaRPr lang="en-US" altLang="ko-KR" sz="2800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2736319-3AF6-4081-97D3-8EF41315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0243" name="슬라이드 번호 개체 틀 2">
            <a:extLst>
              <a:ext uri="{FF2B5EF4-FFF2-40B4-BE49-F238E27FC236}">
                <a16:creationId xmlns:a16="http://schemas.microsoft.com/office/drawing/2014/main" id="{E0C40C3F-2F75-4BF4-8832-7C891656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4944BE10-014A-45E0-9DC4-B56D317AA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6124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송신자와 수신자 간의 왕복 지연이 일정하고 송신자에게는 알려져 있다고 가정하자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프로토콜 </a:t>
            </a:r>
            <a:r>
              <a:rPr lang="en-US" altLang="ko-KR" dirty="0" err="1">
                <a:solidFill>
                  <a:srgbClr val="000000"/>
                </a:solidFill>
                <a:latin typeface="Arial" panose="020B0604020202020204" pitchFamily="34" charset="0"/>
              </a:rPr>
              <a:t>rdt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 3.0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에서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패킷들이 손실될 수 있다고 가정하면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아직도 타이머가 필요한가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dirty="0">
                <a:solidFill>
                  <a:srgbClr val="0000FF"/>
                </a:solidFill>
              </a:rPr>
              <a:t>프로토콜 </a:t>
            </a:r>
            <a:r>
              <a:rPr lang="en-US" altLang="ko-KR" dirty="0" err="1">
                <a:solidFill>
                  <a:srgbClr val="0000FF"/>
                </a:solidFill>
              </a:rPr>
              <a:t>rdt</a:t>
            </a:r>
            <a:r>
              <a:rPr lang="en-US" altLang="ko-KR" dirty="0">
                <a:solidFill>
                  <a:srgbClr val="0000FF"/>
                </a:solidFill>
              </a:rPr>
              <a:t> 3.0</a:t>
            </a:r>
            <a:r>
              <a:rPr lang="ko-KR" altLang="en-US" dirty="0">
                <a:solidFill>
                  <a:srgbClr val="0000FF"/>
                </a:solidFill>
              </a:rPr>
              <a:t>에는 타이머가 여전히 필요하다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왕복 시간이 알려진 경우 유일한 이점은 발신자가 실제 시나리오와 비교하여 패킷 또는 패킷의 </a:t>
            </a:r>
            <a:r>
              <a:rPr lang="en-US" altLang="ko-KR" dirty="0">
                <a:solidFill>
                  <a:srgbClr val="0000FF"/>
                </a:solidFill>
              </a:rPr>
              <a:t>ACK (</a:t>
            </a:r>
            <a:r>
              <a:rPr lang="ko-KR" altLang="en-US" dirty="0">
                <a:solidFill>
                  <a:srgbClr val="0000FF"/>
                </a:solidFill>
              </a:rPr>
              <a:t>또는 </a:t>
            </a:r>
            <a:r>
              <a:rPr lang="en-US" altLang="ko-KR" dirty="0">
                <a:solidFill>
                  <a:srgbClr val="0000FF"/>
                </a:solidFill>
              </a:rPr>
              <a:t>NACK)</a:t>
            </a:r>
            <a:r>
              <a:rPr lang="ko-KR" altLang="en-US" dirty="0">
                <a:solidFill>
                  <a:srgbClr val="0000FF"/>
                </a:solidFill>
              </a:rPr>
              <a:t>가 손실되었음을 알 수 있다는 것이다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타이머가 만료 된 후 </a:t>
            </a:r>
            <a:r>
              <a:rPr lang="en-US" altLang="ko-KR" dirty="0">
                <a:solidFill>
                  <a:srgbClr val="0000FF"/>
                </a:solidFill>
              </a:rPr>
              <a:t>ACK(</a:t>
            </a:r>
            <a:r>
              <a:rPr lang="ko-KR" altLang="en-US" dirty="0">
                <a:solidFill>
                  <a:srgbClr val="0000FF"/>
                </a:solidFill>
              </a:rPr>
              <a:t>또는 </a:t>
            </a:r>
            <a:r>
              <a:rPr lang="en-US" altLang="ko-KR" dirty="0">
                <a:solidFill>
                  <a:srgbClr val="0000FF"/>
                </a:solidFill>
              </a:rPr>
              <a:t>NACK)</a:t>
            </a:r>
            <a:r>
              <a:rPr lang="ko-KR" altLang="en-US" dirty="0">
                <a:solidFill>
                  <a:srgbClr val="0000FF"/>
                </a:solidFill>
              </a:rPr>
              <a:t>이 여전히 발신자에게 전달 될 수 있다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그러나 손실을 감지하려면 각 패킷에 대해 발신자에게 일정한 지속 시간의 타이머가 필요하다</a:t>
            </a:r>
            <a:r>
              <a:rPr lang="en-US" altLang="ko-KR" dirty="0">
                <a:solidFill>
                  <a:srgbClr val="0000FF"/>
                </a:solidFill>
              </a:rPr>
              <a:t>.</a:t>
            </a:r>
            <a:endParaRPr lang="ko-KR" altLang="en-US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FEA4085-F62E-4B02-840C-A1277FAC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2291" name="슬라이드 번호 개체 틀 2">
            <a:extLst>
              <a:ext uri="{FF2B5EF4-FFF2-40B4-BE49-F238E27FC236}">
                <a16:creationId xmlns:a16="http://schemas.microsoft.com/office/drawing/2014/main" id="{23AF7932-DEE7-4EE0-B7EA-2E097E94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BE0CCC2F-ED21-4934-BBBF-918F92851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2"/>
              <a:defRPr/>
            </a:pP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호스트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A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가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개의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TCP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세그먼트를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TCP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연결을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통해 호스트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B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에 연속하여 보낸다고 가정한다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첫 번째 세그먼트의 순서 번호는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90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번이고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두 번째 순서 번호는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110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이다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Tx/>
              <a:buFont typeface="Gill Sans MT" panose="020B0502020104020203" pitchFamily="34" charset="0"/>
              <a:buAutoNum type="alphaUcPeriod"/>
              <a:defRPr/>
            </a:pP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첫 번째 세그먼트의 데이터 양은 얼마인가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? </a:t>
            </a:r>
            <a:r>
              <a:rPr lang="en-US" altLang="ko-KR" sz="28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20 bytes (110-90=20)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Tx/>
              <a:buFont typeface="Gill Sans MT" panose="020B0502020104020203" pitchFamily="34" charset="0"/>
              <a:buAutoNum type="alphaUcPeriod"/>
              <a:defRPr/>
            </a:pP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첫 번째 세그먼트는 분실되었지만 두 번째 세그먼트는 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에 도착했다고 하자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호스트 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가 호스트 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에게 확인 응답을 보냈다면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응답 번호는 몇 번이겠는가</a:t>
            </a:r>
            <a:r>
              <a:rPr lang="en-US" altLang="ko-KR" sz="28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ko-KR" sz="28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      </a:t>
            </a:r>
            <a:r>
              <a:rPr lang="en-US" altLang="ko-KR" sz="2800" dirty="0" err="1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ack</a:t>
            </a:r>
            <a:r>
              <a:rPr lang="en-US" altLang="ko-KR" sz="28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number = 90 </a:t>
            </a:r>
            <a:endParaRPr lang="en-US" altLang="ko-KR" sz="28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2"/>
              <a:defRPr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4F14522-780E-429A-92BC-EE537651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4339" name="슬라이드 번호 개체 틀 2">
            <a:extLst>
              <a:ext uri="{FF2B5EF4-FFF2-40B4-BE49-F238E27FC236}">
                <a16:creationId xmlns:a16="http://schemas.microsoft.com/office/drawing/2014/main" id="{87F0BB42-0751-497B-8B0F-2DCB6B03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40" name="TextBox 3">
            <a:extLst>
              <a:ext uri="{FF2B5EF4-FFF2-40B4-BE49-F238E27FC236}">
                <a16:creationId xmlns:a16="http://schemas.microsoft.com/office/drawing/2014/main" id="{7FDDADA4-288E-49AF-B830-171E3E02C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3"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개의 측정된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SampleRTT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106msec, 120msec, 140msec, 90msec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라고 가정하자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ᵅ(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알파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)=0.1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이 네 샘플들의 첫 번째 값을 얻기 바로 전의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EstimatedRTT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 값을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100msec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라고 가정하여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각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SampleRTT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값이 얻어질 때마다의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EstimatedRTT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를 계산하라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또한 </a:t>
            </a:r>
            <a:r>
              <a:rPr lang="el-GR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ᵝ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베타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)=0.25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값과 이 네 샘플들의 첫 번째 값을 얻기 바로 전의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DevRTT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 값을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5msec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라고 가정하여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각 </a:t>
            </a:r>
            <a:r>
              <a:rPr lang="ko-KR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샘플값을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얻을 때마다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DevRTT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를 계산하라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끝으로 각 </a:t>
            </a:r>
            <a:r>
              <a:rPr lang="ko-KR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샘플값을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얻을 때마다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TCP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TimeoutInterval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을 계산하라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3"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41" name="그림 2">
            <a:extLst>
              <a:ext uri="{FF2B5EF4-FFF2-40B4-BE49-F238E27FC236}">
                <a16:creationId xmlns:a16="http://schemas.microsoft.com/office/drawing/2014/main" id="{7511D780-981A-43EF-86E5-10D17380F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76" y="2960689"/>
            <a:ext cx="7878763" cy="304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5967BA2-3136-49A4-A8CC-7095CCBB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6387" name="슬라이드 번호 개체 틀 2">
            <a:extLst>
              <a:ext uri="{FF2B5EF4-FFF2-40B4-BE49-F238E27FC236}">
                <a16:creationId xmlns:a16="http://schemas.microsoft.com/office/drawing/2014/main" id="{474ED1DF-7411-4572-88EA-49A6A25E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388" name="TextBox 3">
            <a:extLst>
              <a:ext uri="{FF2B5EF4-FFF2-40B4-BE49-F238E27FC236}">
                <a16:creationId xmlns:a16="http://schemas.microsoft.com/office/drawing/2014/main" id="{D5DF2904-5624-499D-93AF-415B01818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TCP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의 빠른 재전송이 무엇인가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또 빠른 재전송이 왜 필요한가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빠른 재전송이란 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3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개의 중복 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ACK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를 수신하는 경우에는 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TCP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가 세그먼트의 타이머가 만료되기 이전에 손실 세그먼트를 재전송하는 것이다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.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타임아웃이 유발하는 재전송의 문제는 타임아웃의 주기가 때때로 비교적 길다는 것이다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.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세그먼트를 잃었을 때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긴 타임아웃 주기는 잃어버린 패킷을 다시 보내기 전에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오랫동안 기다리게 해서 종단간의 지연을 증가시킬 수 있다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.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빠른 재전송을 통해 종단간의 지연을 단축시킬 수 있다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7F05A3-C125-4EBB-A05F-3BE30D16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511925"/>
            <a:ext cx="2895600" cy="28733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0243" name="슬라이드 번호 개체 틀 2">
            <a:extLst>
              <a:ext uri="{FF2B5EF4-FFF2-40B4-BE49-F238E27FC236}">
                <a16:creationId xmlns:a16="http://schemas.microsoft.com/office/drawing/2014/main" id="{06C316C8-3791-4117-93CD-F88ACEAF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511925"/>
            <a:ext cx="971550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27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D4161AB8-773F-42AC-82CD-5B2C76369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781" y="902921"/>
            <a:ext cx="8801100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TCP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슬로 스타트가 일어나는 기간을 찾아라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[1,6],  [23,26]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TCP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혼잡 회피가 일어나는 기간을 찾아라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[6,16], [17,22]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전송 후는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개의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ACK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에 의한 세그먼트 손실 감지인가 아니면 </a:t>
            </a:r>
            <a:r>
              <a:rPr lang="ko-KR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타임아웃에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의한 것인가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이유도 적으시오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olidFill>
                  <a:srgbClr val="0000FF"/>
                </a:solidFill>
              </a:rPr>
              <a:t>16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 후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패킷 손실은 </a:t>
            </a:r>
            <a:r>
              <a:rPr lang="en-US" altLang="ko-KR" sz="2000" dirty="0">
                <a:solidFill>
                  <a:srgbClr val="0000FF"/>
                </a:solidFill>
              </a:rPr>
              <a:t>3 </a:t>
            </a:r>
            <a:r>
              <a:rPr lang="ko-KR" altLang="en-US" sz="2000" dirty="0">
                <a:solidFill>
                  <a:srgbClr val="0000FF"/>
                </a:solidFill>
              </a:rPr>
              <a:t>중 중복 </a:t>
            </a:r>
            <a:r>
              <a:rPr lang="en-US" altLang="ko-KR" sz="2000" dirty="0">
                <a:solidFill>
                  <a:srgbClr val="0000FF"/>
                </a:solidFill>
              </a:rPr>
              <a:t>ACK</a:t>
            </a:r>
            <a:r>
              <a:rPr lang="ko-KR" altLang="en-US" sz="2000" dirty="0">
                <a:solidFill>
                  <a:srgbClr val="0000FF"/>
                </a:solidFill>
              </a:rPr>
              <a:t>에 의해 인식된다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타임아웃이 발생하면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혼잡 윈도우 크기는 </a:t>
            </a:r>
            <a:r>
              <a:rPr lang="en-US" altLang="ko-KR" sz="2000" dirty="0">
                <a:solidFill>
                  <a:srgbClr val="0000FF"/>
                </a:solidFill>
              </a:rPr>
              <a:t>1</a:t>
            </a:r>
            <a:r>
              <a:rPr lang="ko-KR" altLang="en-US" sz="2000" dirty="0">
                <a:solidFill>
                  <a:srgbClr val="0000FF"/>
                </a:solidFill>
              </a:rPr>
              <a:t>로 떨어진다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22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전송 후는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개의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ACK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에 의한 세그먼트 손실 감지인가 아니면 </a:t>
            </a:r>
            <a:r>
              <a:rPr lang="ko-KR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타임아웃에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의한 것인가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이유도 적으시오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olidFill>
                  <a:srgbClr val="0000FF"/>
                </a:solidFill>
              </a:rPr>
              <a:t>22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 후 타임아웃으로 인해 세그먼트 손실이 감지되므로 혼잡 윈도우 크기는 </a:t>
            </a:r>
            <a:r>
              <a:rPr lang="en-US" altLang="ko-KR" sz="2000" dirty="0">
                <a:solidFill>
                  <a:srgbClr val="0000FF"/>
                </a:solidFill>
              </a:rPr>
              <a:t>1</a:t>
            </a:r>
            <a:r>
              <a:rPr lang="ko-KR" altLang="en-US" sz="2000" dirty="0">
                <a:solidFill>
                  <a:srgbClr val="0000FF"/>
                </a:solidFill>
              </a:rPr>
              <a:t>로 설정된다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첫 번째 전송의 초기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ssthresh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얼마인가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슬로 스타트가 </a:t>
            </a:r>
            <a:r>
              <a:rPr lang="ko-KR" altLang="en-US" sz="2000" dirty="0">
                <a:solidFill>
                  <a:srgbClr val="0000FF"/>
                </a:solidFill>
              </a:rPr>
              <a:t>중지되고 혼잡 회피가 시작되기 때문에 </a:t>
            </a:r>
            <a:r>
              <a:rPr lang="ko-KR" altLang="en-US" sz="2000" dirty="0" err="1">
                <a:solidFill>
                  <a:srgbClr val="0000FF"/>
                </a:solidFill>
              </a:rPr>
              <a:t>임계값은</a:t>
            </a:r>
            <a:r>
              <a:rPr lang="ko-KR" altLang="en-US" sz="2000" dirty="0">
                <a:solidFill>
                  <a:srgbClr val="0000FF"/>
                </a:solidFill>
              </a:rPr>
              <a:t> 처음에 </a:t>
            </a:r>
            <a:r>
              <a:rPr lang="en-US" altLang="ko-KR" sz="2000" dirty="0">
                <a:solidFill>
                  <a:srgbClr val="0000FF"/>
                </a:solidFill>
              </a:rPr>
              <a:t>32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245" name="그림 2">
            <a:extLst>
              <a:ext uri="{FF2B5EF4-FFF2-40B4-BE49-F238E27FC236}">
                <a16:creationId xmlns:a16="http://schemas.microsoft.com/office/drawing/2014/main" id="{1F5D6367-1ED7-4DBB-B357-A8BFB5500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19" y="153987"/>
            <a:ext cx="3072662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8F05C92-3F08-4D31-A712-C34707B5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511925"/>
            <a:ext cx="2895600" cy="28733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2291" name="슬라이드 번호 개체 틀 2">
            <a:extLst>
              <a:ext uri="{FF2B5EF4-FFF2-40B4-BE49-F238E27FC236}">
                <a16:creationId xmlns:a16="http://schemas.microsoft.com/office/drawing/2014/main" id="{AE1F2AE9-951D-4152-ADD0-588C4D05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511925"/>
            <a:ext cx="971550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27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632DE035-3913-4A63-8907-A42B44064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117475"/>
            <a:ext cx="8801100" cy="634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시간 함수의 윈도우 크기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&gt;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ko-KR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ko-KR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위 그림을 참조하여 아래 각 질문에 답하라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. TCP-Reno</a:t>
            </a:r>
            <a:r>
              <a:rPr lang="ko-KR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로 동작하는 프로토콜이라고 가정하고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다음 질문에 간단하고 명확하게 답하라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6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18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전송의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ssthresh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얼마인가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0000FF"/>
                </a:solidFill>
              </a:rPr>
              <a:t>패킷 손실이 감지되면 임계 값은 혼잡 윈도우 값의 절반으로 설정된다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전송 라운드 </a:t>
            </a:r>
            <a:r>
              <a:rPr lang="en-US" altLang="ko-KR" sz="2000" dirty="0">
                <a:solidFill>
                  <a:srgbClr val="0000FF"/>
                </a:solidFill>
              </a:rPr>
              <a:t>16 </a:t>
            </a:r>
            <a:r>
              <a:rPr lang="ko-KR" altLang="en-US" sz="2000" dirty="0">
                <a:solidFill>
                  <a:srgbClr val="0000FF"/>
                </a:solidFill>
              </a:rPr>
              <a:t>동안 손실이 검출되었을 때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혼잡 윈도우 크기는 </a:t>
            </a:r>
            <a:r>
              <a:rPr lang="en-US" altLang="ko-KR" sz="2000" dirty="0">
                <a:solidFill>
                  <a:srgbClr val="0000FF"/>
                </a:solidFill>
              </a:rPr>
              <a:t>42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따라서</a:t>
            </a:r>
            <a:r>
              <a:rPr lang="en-US" altLang="ko-KR" sz="2000" dirty="0">
                <a:solidFill>
                  <a:srgbClr val="0000FF"/>
                </a:solidFill>
              </a:rPr>
              <a:t>, 18 </a:t>
            </a:r>
            <a:r>
              <a:rPr lang="ko-KR" altLang="en-US" sz="2000" dirty="0">
                <a:solidFill>
                  <a:srgbClr val="0000FF"/>
                </a:solidFill>
              </a:rPr>
              <a:t>번째 전송의 </a:t>
            </a:r>
            <a:r>
              <a:rPr lang="ko-KR" altLang="en-US" sz="2000" dirty="0" err="1">
                <a:solidFill>
                  <a:srgbClr val="0000FF"/>
                </a:solidFill>
              </a:rPr>
              <a:t>임계값은</a:t>
            </a:r>
            <a:r>
              <a:rPr lang="ko-KR" altLang="en-US" sz="2000" dirty="0">
                <a:solidFill>
                  <a:srgbClr val="0000FF"/>
                </a:solidFill>
              </a:rPr>
              <a:t> </a:t>
            </a:r>
            <a:r>
              <a:rPr lang="en-US" altLang="ko-KR" sz="2000" dirty="0">
                <a:solidFill>
                  <a:srgbClr val="0000FF"/>
                </a:solidFill>
              </a:rPr>
              <a:t>21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6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6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전송의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ssthresh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얼마인가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0000FF"/>
                </a:solidFill>
              </a:rPr>
              <a:t>패킷 손실이 감지되면 </a:t>
            </a:r>
            <a:r>
              <a:rPr lang="ko-KR" altLang="en-US" sz="2000" dirty="0" err="1">
                <a:solidFill>
                  <a:srgbClr val="0000FF"/>
                </a:solidFill>
              </a:rPr>
              <a:t>임계값은</a:t>
            </a:r>
            <a:r>
              <a:rPr lang="ko-KR" altLang="en-US" sz="2000" dirty="0">
                <a:solidFill>
                  <a:srgbClr val="0000FF"/>
                </a:solidFill>
              </a:rPr>
              <a:t> 혼잡 윈도우 값의 절반으로 설정된다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전송 라운드 </a:t>
            </a:r>
            <a:r>
              <a:rPr lang="en-US" altLang="ko-KR" sz="2000" dirty="0">
                <a:solidFill>
                  <a:srgbClr val="0000FF"/>
                </a:solidFill>
              </a:rPr>
              <a:t>22</a:t>
            </a:r>
            <a:r>
              <a:rPr lang="ko-KR" altLang="en-US" sz="2000" dirty="0">
                <a:solidFill>
                  <a:srgbClr val="0000FF"/>
                </a:solidFill>
              </a:rPr>
              <a:t>에 손실이 감지되었을 때</a:t>
            </a:r>
            <a:r>
              <a:rPr lang="en-US" altLang="ko-KR" sz="2000" dirty="0">
                <a:solidFill>
                  <a:srgbClr val="0000FF"/>
                </a:solidFill>
              </a:rPr>
              <a:t>,</a:t>
            </a:r>
            <a:r>
              <a:rPr lang="ko-KR" altLang="en-US" sz="2000" dirty="0">
                <a:solidFill>
                  <a:srgbClr val="0000FF"/>
                </a:solidFill>
              </a:rPr>
              <a:t> 혼잡 윈도우 크기는 </a:t>
            </a:r>
            <a:r>
              <a:rPr lang="en-US" altLang="ko-KR" sz="2000" dirty="0">
                <a:solidFill>
                  <a:srgbClr val="0000FF"/>
                </a:solidFill>
              </a:rPr>
              <a:t>29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따라서 </a:t>
            </a:r>
            <a:r>
              <a:rPr lang="en-US" altLang="ko-KR" sz="2000" dirty="0">
                <a:solidFill>
                  <a:srgbClr val="0000FF"/>
                </a:solidFill>
              </a:rPr>
              <a:t>24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라운드의 </a:t>
            </a:r>
            <a:r>
              <a:rPr lang="ko-KR" altLang="en-US" sz="2000" dirty="0" err="1">
                <a:solidFill>
                  <a:srgbClr val="0000FF"/>
                </a:solidFill>
              </a:rPr>
              <a:t>임계값은</a:t>
            </a:r>
            <a:r>
              <a:rPr lang="ko-KR" altLang="en-US" sz="2000" dirty="0">
                <a:solidFill>
                  <a:srgbClr val="0000FF"/>
                </a:solidFill>
              </a:rPr>
              <a:t> </a:t>
            </a:r>
            <a:r>
              <a:rPr lang="en-US" altLang="ko-KR" sz="2000" dirty="0">
                <a:solidFill>
                  <a:srgbClr val="0000FF"/>
                </a:solidFill>
              </a:rPr>
              <a:t>14 (14.5</a:t>
            </a:r>
            <a:r>
              <a:rPr lang="ko-KR" altLang="en-US" sz="2000" dirty="0">
                <a:solidFill>
                  <a:srgbClr val="0000FF"/>
                </a:solidFill>
              </a:rPr>
              <a:t>의 낮은 층을 차지함</a:t>
            </a:r>
            <a:r>
              <a:rPr lang="en-US" altLang="ko-KR" sz="2000" dirty="0">
                <a:solidFill>
                  <a:srgbClr val="0000FF"/>
                </a:solidFill>
              </a:rPr>
              <a:t>)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6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6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70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세그먼트를 보낸 전송은 몇 번째 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0000FF"/>
                </a:solidFill>
              </a:rPr>
              <a:t>첫 번째 전송 라운드 동안 패킷 </a:t>
            </a:r>
            <a:r>
              <a:rPr lang="en-US" altLang="ko-KR" sz="2000" dirty="0">
                <a:solidFill>
                  <a:srgbClr val="0000FF"/>
                </a:solidFill>
              </a:rPr>
              <a:t>1</a:t>
            </a:r>
            <a:r>
              <a:rPr lang="ko-KR" altLang="en-US" sz="2000" dirty="0">
                <a:solidFill>
                  <a:srgbClr val="0000FF"/>
                </a:solidFill>
              </a:rPr>
              <a:t>이 전송된다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2-3</a:t>
            </a:r>
            <a:r>
              <a:rPr lang="ko-KR" altLang="en-US" sz="2000" dirty="0">
                <a:solidFill>
                  <a:srgbClr val="0000FF"/>
                </a:solidFill>
              </a:rPr>
              <a:t>은 두 번째 전송 라운드에서 전송된다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4-7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3 </a:t>
            </a:r>
            <a:r>
              <a:rPr lang="ko-KR" altLang="en-US" sz="2000" dirty="0">
                <a:solidFill>
                  <a:srgbClr val="0000FF"/>
                </a:solidFill>
              </a:rPr>
              <a:t>차 전송 라운드에서 전송되고</a:t>
            </a:r>
            <a:r>
              <a:rPr lang="en-US" altLang="ko-KR" sz="2000" dirty="0">
                <a:solidFill>
                  <a:srgbClr val="0000FF"/>
                </a:solidFill>
              </a:rPr>
              <a:t>;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8-15</a:t>
            </a:r>
            <a:r>
              <a:rPr lang="ko-KR" altLang="en-US" sz="2000" dirty="0">
                <a:solidFill>
                  <a:srgbClr val="0000FF"/>
                </a:solidFill>
              </a:rPr>
              <a:t>는 </a:t>
            </a:r>
            <a:r>
              <a:rPr lang="en-US" altLang="ko-KR" sz="2000" dirty="0">
                <a:solidFill>
                  <a:srgbClr val="0000FF"/>
                </a:solidFill>
              </a:rPr>
              <a:t>4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라운드에서 전송된다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16-31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5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라운드에서 전송되고</a:t>
            </a:r>
            <a:r>
              <a:rPr lang="en-US" altLang="ko-KR" sz="2000" dirty="0">
                <a:solidFill>
                  <a:srgbClr val="0000FF"/>
                </a:solidFill>
              </a:rPr>
              <a:t>;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32 </a:t>
            </a:r>
            <a:r>
              <a:rPr lang="ko-KR" altLang="en-US" sz="2000" dirty="0">
                <a:solidFill>
                  <a:srgbClr val="0000FF"/>
                </a:solidFill>
              </a:rPr>
              <a:t>내지 </a:t>
            </a:r>
            <a:r>
              <a:rPr lang="en-US" altLang="ko-KR" sz="2000" dirty="0">
                <a:solidFill>
                  <a:srgbClr val="0000FF"/>
                </a:solidFill>
              </a:rPr>
              <a:t>63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6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라운드에서 전송되고</a:t>
            </a:r>
            <a:r>
              <a:rPr lang="en-US" altLang="ko-KR" sz="2000" dirty="0">
                <a:solidFill>
                  <a:srgbClr val="0000FF"/>
                </a:solidFill>
              </a:rPr>
              <a:t>;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64 – 96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7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라운드에서 전송된다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en-US" sz="2000" dirty="0">
                <a:solidFill>
                  <a:srgbClr val="0000FF"/>
                </a:solidFill>
              </a:rPr>
              <a:t>따라서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패킷 </a:t>
            </a:r>
            <a:r>
              <a:rPr lang="en-US" altLang="ko-KR" sz="2000" dirty="0">
                <a:solidFill>
                  <a:srgbClr val="0000FF"/>
                </a:solidFill>
              </a:rPr>
              <a:t>70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7 </a:t>
            </a:r>
            <a:r>
              <a:rPr lang="ko-KR" altLang="en-US" sz="2000" dirty="0">
                <a:solidFill>
                  <a:srgbClr val="0000FF"/>
                </a:solidFill>
              </a:rPr>
              <a:t>번째 전송 라운드에서 전송된다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6"/>
              <a:defRPr/>
            </a:pP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2C9D242-42E6-4838-AD86-F975683A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511925"/>
            <a:ext cx="2895600" cy="28733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4339" name="슬라이드 번호 개체 틀 2">
            <a:extLst>
              <a:ext uri="{FF2B5EF4-FFF2-40B4-BE49-F238E27FC236}">
                <a16:creationId xmlns:a16="http://schemas.microsoft.com/office/drawing/2014/main" id="{1C1EC397-4BFA-4F04-93D8-87D3AE69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511925"/>
            <a:ext cx="971550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27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DD5BD213-F1E3-4E85-9752-81AF7F668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117475"/>
            <a:ext cx="8801100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시간 함수의 윈도우 크기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&gt;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위 그림을 참조하여 아래 각 질문에 답하라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TCP-Reno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로 동작하는 프로토콜이라고 가정하고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다음 질문에 간단하고 명확하게 답하라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9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개의 중복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ACK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수신에 의해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 이후에 패킷이 손실된 것을 감지했다고 가정한다면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혼잡 윈도우의 크기와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ssthresh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얼마인가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2000" dirty="0">
                <a:solidFill>
                  <a:srgbClr val="0000FF"/>
                </a:solidFill>
              </a:rPr>
              <a:t>손실이 발생하면 </a:t>
            </a:r>
            <a:r>
              <a:rPr lang="ko-KR" altLang="ko-KR" sz="2000" dirty="0" err="1">
                <a:solidFill>
                  <a:srgbClr val="0000FF"/>
                </a:solidFill>
              </a:rPr>
              <a:t>임계값은</a:t>
            </a:r>
            <a:r>
              <a:rPr lang="ko-KR" altLang="ko-KR" sz="2000" dirty="0">
                <a:solidFill>
                  <a:srgbClr val="0000FF"/>
                </a:solidFill>
              </a:rPr>
              <a:t> </a:t>
            </a:r>
            <a:r>
              <a:rPr lang="ko-KR" altLang="en-US" sz="2000" dirty="0">
                <a:solidFill>
                  <a:srgbClr val="0000FF"/>
                </a:solidFill>
              </a:rPr>
              <a:t>혼잡</a:t>
            </a:r>
            <a:r>
              <a:rPr lang="ko-KR" altLang="ko-KR" sz="2000" dirty="0">
                <a:solidFill>
                  <a:srgbClr val="0000FF"/>
                </a:solidFill>
              </a:rPr>
              <a:t> 윈도우 (8)의 현재 값의 절반으로 설정되고 </a:t>
            </a:r>
            <a:r>
              <a:rPr lang="ko-KR" altLang="en-US" sz="2000" dirty="0">
                <a:solidFill>
                  <a:srgbClr val="0000FF"/>
                </a:solidFill>
              </a:rPr>
              <a:t>혼잡</a:t>
            </a:r>
            <a:r>
              <a:rPr lang="ko-KR" altLang="ko-KR" sz="2000" dirty="0">
                <a:solidFill>
                  <a:srgbClr val="0000FF"/>
                </a:solidFill>
              </a:rPr>
              <a:t> 윈도우는 새로운 임계 값 + 3 </a:t>
            </a:r>
            <a:r>
              <a:rPr lang="ko-KR" altLang="ko-KR" sz="2000" dirty="0" err="1">
                <a:solidFill>
                  <a:srgbClr val="0000FF"/>
                </a:solidFill>
              </a:rPr>
              <a:t>MSS로</a:t>
            </a:r>
            <a:r>
              <a:rPr lang="ko-KR" altLang="ko-KR" sz="2000" dirty="0">
                <a:solidFill>
                  <a:srgbClr val="0000FF"/>
                </a:solidFill>
              </a:rPr>
              <a:t> 설정</a:t>
            </a:r>
            <a:r>
              <a:rPr lang="ko-KR" altLang="en-US" sz="2000" dirty="0">
                <a:solidFill>
                  <a:srgbClr val="0000FF"/>
                </a:solidFill>
              </a:rPr>
              <a:t>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r>
              <a:rPr lang="ko-KR" altLang="ko-KR" sz="2000" dirty="0">
                <a:solidFill>
                  <a:srgbClr val="0000FF"/>
                </a:solidFill>
              </a:rPr>
              <a:t>따라서 </a:t>
            </a:r>
            <a:r>
              <a:rPr lang="ko-KR" altLang="en-US" sz="2000" dirty="0">
                <a:solidFill>
                  <a:srgbClr val="0000FF"/>
                </a:solidFill>
              </a:rPr>
              <a:t>새로운 </a:t>
            </a:r>
            <a:r>
              <a:rPr lang="ko-KR" altLang="ko-KR" sz="2000" dirty="0" err="1">
                <a:solidFill>
                  <a:srgbClr val="0000FF"/>
                </a:solidFill>
              </a:rPr>
              <a:t>임</a:t>
            </a:r>
            <a:r>
              <a:rPr lang="ko-KR" altLang="en-US" sz="2000" dirty="0" err="1">
                <a:solidFill>
                  <a:srgbClr val="0000FF"/>
                </a:solidFill>
              </a:rPr>
              <a:t>계</a:t>
            </a:r>
            <a:r>
              <a:rPr lang="ko-KR" altLang="ko-KR" sz="2000" dirty="0" err="1">
                <a:solidFill>
                  <a:srgbClr val="0000FF"/>
                </a:solidFill>
              </a:rPr>
              <a:t>값</a:t>
            </a:r>
            <a:r>
              <a:rPr lang="ko-KR" altLang="en-US" sz="2000" dirty="0" err="1">
                <a:solidFill>
                  <a:srgbClr val="0000FF"/>
                </a:solidFill>
              </a:rPr>
              <a:t>은</a:t>
            </a:r>
            <a:r>
              <a:rPr lang="ko-KR" altLang="en-US" sz="2000" dirty="0">
                <a:solidFill>
                  <a:srgbClr val="0000FF"/>
                </a:solidFill>
              </a:rPr>
              <a:t> </a:t>
            </a:r>
            <a:r>
              <a:rPr lang="en-US" altLang="ko-KR" sz="2000" dirty="0">
                <a:solidFill>
                  <a:srgbClr val="0000FF"/>
                </a:solidFill>
              </a:rPr>
              <a:t>4</a:t>
            </a:r>
            <a:r>
              <a:rPr lang="ko-KR" altLang="en-US" sz="2000" dirty="0">
                <a:solidFill>
                  <a:srgbClr val="0000FF"/>
                </a:solidFill>
              </a:rPr>
              <a:t>이고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새로운 혼잡 윈도우 크기는 </a:t>
            </a:r>
            <a:r>
              <a:rPr lang="ko-KR" altLang="ko-KR" sz="2000" dirty="0">
                <a:solidFill>
                  <a:srgbClr val="0000FF"/>
                </a:solidFill>
              </a:rPr>
              <a:t>7이</a:t>
            </a:r>
            <a:r>
              <a:rPr lang="ko-KR" altLang="en-US" sz="2000" dirty="0">
                <a:solidFill>
                  <a:srgbClr val="0000FF"/>
                </a:solidFill>
              </a:rPr>
              <a:t>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9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9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(TCP-Reno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대신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) TCP-Tahoe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가 사용된다고 가정하고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개의 중복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ACK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이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번째에서 수신된다고 가정하자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19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번째의 혼잡 윈도우 크기와 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ssthresh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값은 얼마인가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2000" dirty="0" err="1">
                <a:solidFill>
                  <a:srgbClr val="0000FF"/>
                </a:solidFill>
              </a:rPr>
              <a:t>임계값은</a:t>
            </a:r>
            <a:r>
              <a:rPr lang="ko-KR" altLang="ko-KR" sz="2000" dirty="0">
                <a:solidFill>
                  <a:srgbClr val="0000FF"/>
                </a:solidFill>
              </a:rPr>
              <a:t> 21이고 </a:t>
            </a:r>
            <a:r>
              <a:rPr lang="ko-KR" altLang="en-US" sz="2000" dirty="0">
                <a:solidFill>
                  <a:srgbClr val="0000FF"/>
                </a:solidFill>
              </a:rPr>
              <a:t>혼잡 윈도우 </a:t>
            </a:r>
            <a:r>
              <a:rPr lang="ko-KR" altLang="ko-KR" sz="2000" dirty="0">
                <a:solidFill>
                  <a:srgbClr val="0000FF"/>
                </a:solidFill>
              </a:rPr>
              <a:t>크기는 1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br>
              <a:rPr lang="ko-KR" altLang="ko-KR" sz="2000" dirty="0">
                <a:solidFill>
                  <a:srgbClr val="0000FF"/>
                </a:solidFill>
              </a:rPr>
            </a:br>
            <a:endParaRPr lang="en-US" altLang="ko-KR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9"/>
              <a:defRPr/>
            </a:pP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또 한번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TCP-Tahoe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가 사용되고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, 22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번째에서 타임아웃이 발생한다고 가정하자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. 17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번째에서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22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번째까지 얼마나 많은 패킷들이 송신되었는가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ko-KR" sz="20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2000" dirty="0">
                <a:solidFill>
                  <a:srgbClr val="0000FF"/>
                </a:solidFill>
              </a:rPr>
              <a:t>라운드 17, 1 패킷; 라운드 18, 2 패킷; 라운드 19, 4 패킷; 라운드 20, 8 패킷; 라운드 21, 16 패킷; 22</a:t>
            </a:r>
            <a:r>
              <a:rPr lang="en-US" altLang="ko-KR" sz="2000" dirty="0">
                <a:solidFill>
                  <a:srgbClr val="0000FF"/>
                </a:solidFill>
              </a:rPr>
              <a:t> </a:t>
            </a:r>
            <a:r>
              <a:rPr lang="ko-KR" altLang="en-US" sz="2000" dirty="0">
                <a:solidFill>
                  <a:srgbClr val="0000FF"/>
                </a:solidFill>
              </a:rPr>
              <a:t>라운드</a:t>
            </a:r>
            <a:r>
              <a:rPr lang="ko-KR" altLang="ko-KR" sz="2000" dirty="0">
                <a:solidFill>
                  <a:srgbClr val="0000FF"/>
                </a:solidFill>
              </a:rPr>
              <a:t>, 21 패킷. 따라서 총 수는 52</a:t>
            </a:r>
            <a:r>
              <a:rPr lang="en-US" altLang="ko-KR" sz="2000" dirty="0">
                <a:solidFill>
                  <a:srgbClr val="0000FF"/>
                </a:solidFill>
              </a:rPr>
              <a:t>(1+2+4+8+16+21)</a:t>
            </a:r>
            <a:r>
              <a:rPr lang="ko-KR" altLang="en-US" sz="2000" dirty="0">
                <a:solidFill>
                  <a:srgbClr val="0000FF"/>
                </a:solidFill>
              </a:rPr>
              <a:t>이다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endParaRPr lang="en-US" altLang="ko-KR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9"/>
              <a:defRPr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F021641-3E4E-46BC-80D8-8C0487AC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0243" name="슬라이드 번호 개체 틀 2">
            <a:extLst>
              <a:ext uri="{FF2B5EF4-FFF2-40B4-BE49-F238E27FC236}">
                <a16:creationId xmlns:a16="http://schemas.microsoft.com/office/drawing/2014/main" id="{D3CD3748-4F95-4EB4-B16E-33DF4EB4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58983817-AE40-4711-BD38-69BAB5C49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네트워크 계층 기능이 데이터 평면 기능과 제어 평면 기능으로 나누어지는 것을 알았다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데이터 평면과 제어 평면의 주요 기능들은 무엇인가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dirty="0">
                <a:solidFill>
                  <a:srgbClr val="0000FF"/>
                </a:solidFill>
              </a:rPr>
              <a:t>데이터 평면의 주요 기능은 데이터 전달을 입력 링크에서 출력 링크로 전달하는 패킷 전달</a:t>
            </a:r>
            <a:r>
              <a:rPr lang="en-US" altLang="ko-KR" dirty="0">
                <a:solidFill>
                  <a:srgbClr val="0000FF"/>
                </a:solidFill>
              </a:rPr>
              <a:t>(forwarding)</a:t>
            </a:r>
            <a:r>
              <a:rPr lang="ko-KR" altLang="en-US" dirty="0">
                <a:solidFill>
                  <a:srgbClr val="0000FF"/>
                </a:solidFill>
              </a:rPr>
              <a:t>이다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br>
              <a:rPr lang="en-US" altLang="ko-KR" dirty="0">
                <a:solidFill>
                  <a:srgbClr val="0000FF"/>
                </a:solidFill>
              </a:rPr>
            </a:br>
            <a:r>
              <a:rPr lang="ko-KR" altLang="en-US" dirty="0">
                <a:solidFill>
                  <a:srgbClr val="0000FF"/>
                </a:solidFill>
              </a:rPr>
              <a:t>컨트롤 평면의 주요 기능은 라우팅이다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라우팅은 패킷이 출발지에서 목적지로 가는 경로를 결정하는 것이다</a:t>
            </a:r>
            <a:r>
              <a:rPr lang="en-US" altLang="ko-KR" dirty="0">
                <a:solidFill>
                  <a:srgbClr val="0000FF"/>
                </a:solidFill>
              </a:rPr>
              <a:t>.  </a:t>
            </a:r>
            <a:r>
              <a:rPr lang="ko-KR" altLang="en-US" dirty="0">
                <a:solidFill>
                  <a:srgbClr val="0000FF"/>
                </a:solidFill>
              </a:rPr>
              <a:t>제어 평면은 라우팅 프로토콜 실행과 원격 컨트롤러와 통신 및 관리 기능 수행을 담당한다</a:t>
            </a:r>
            <a:r>
              <a:rPr lang="en-US" altLang="ko-KR" dirty="0">
                <a:solidFill>
                  <a:srgbClr val="0000FF"/>
                </a:solidFill>
              </a:rPr>
              <a:t>.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57B3B1C-0706-4A8A-8626-825709A9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2291" name="슬라이드 번호 개체 틀 2">
            <a:extLst>
              <a:ext uri="{FF2B5EF4-FFF2-40B4-BE49-F238E27FC236}">
                <a16:creationId xmlns:a16="http://schemas.microsoft.com/office/drawing/2014/main" id="{71AF49D7-F96A-487F-8195-A8E2E397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3C7BBAB6-A6B7-4BAF-A253-7DF66B65B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2"/>
            </a:pP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네트워크 계층 서비스 모델은 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송신 호스트와 수신 호스트 사이의 종단간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(end-to-end)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패킷 전송 특성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＂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으로 정의하였다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인터넷 네트워크 계층의 서비스 모델은 무엇인가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?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데이터그램의 호스트 간 전송과 관련하여 인터넷 서비스 모델이 보장하는 것은 무엇인가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?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2"/>
            </a:pPr>
            <a:endParaRPr lang="en-US" altLang="ko-KR" sz="2100" dirty="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sz="2100" dirty="0">
                <a:solidFill>
                  <a:srgbClr val="0000FF"/>
                </a:solidFill>
              </a:rPr>
              <a:t>인터넷 네트워크 계층의 서비스 모델은 최선의 서비스</a:t>
            </a:r>
            <a:r>
              <a:rPr lang="en-US" altLang="ko-KR" sz="2100" dirty="0">
                <a:solidFill>
                  <a:srgbClr val="0000FF"/>
                </a:solidFill>
              </a:rPr>
              <a:t>(best-effort service)</a:t>
            </a:r>
            <a:r>
              <a:rPr lang="ko-KR" altLang="en-US" sz="2100" dirty="0">
                <a:solidFill>
                  <a:srgbClr val="0000FF"/>
                </a:solidFill>
              </a:rPr>
              <a:t>이다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이 서비스 모델을 사용하면 패킷이 전송된 순서대로 수신된다는 보장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최종 전달 보장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종단 간 지연 보장 및 최소 대역폭 보장이 보장되지 않는 다</a:t>
            </a:r>
            <a:r>
              <a:rPr lang="en-US" altLang="ko-KR" sz="2100" dirty="0">
                <a:solidFill>
                  <a:srgbClr val="0000FF"/>
                </a:solidFill>
              </a:rPr>
              <a:t>.</a:t>
            </a:r>
            <a:endParaRPr lang="ko-KR" altLang="en-US" sz="21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2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3"/>
            </a:pP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도착한 패킷이 라우터의 포워딩 테이블에 있는 두 개 이상의 항목과 일치한다고 가정하자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기존의 목적지 기반 포워딩을 사용할 때 라우터는 어떤 규칙을 적용하여 도착 패킷을 </a:t>
            </a:r>
            <a:r>
              <a:rPr lang="ko-KR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스위치하는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출력 포트를 결정해야 하는가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3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sz="2100" dirty="0">
                <a:solidFill>
                  <a:srgbClr val="0000FF"/>
                </a:solidFill>
              </a:rPr>
              <a:t>라우터는 가장 긴 접두사 일치</a:t>
            </a:r>
            <a:r>
              <a:rPr lang="en-US" altLang="ko-KR" sz="2100" dirty="0">
                <a:solidFill>
                  <a:srgbClr val="0000FF"/>
                </a:solidFill>
              </a:rPr>
              <a:t>(longest prefix matching)</a:t>
            </a:r>
            <a:r>
              <a:rPr lang="ko-KR" altLang="en-US" sz="2100" dirty="0">
                <a:solidFill>
                  <a:srgbClr val="0000FF"/>
                </a:solidFill>
              </a:rPr>
              <a:t>를 사용하여 패킷의 대상 주소가 포워딩 테이블의 둘 이상의 항목과 일치하는 경우 패킷이 전달 될 링크 인터페이스를 결정한다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즉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패킷은 패킷의 대상과 가장 긴 접두사가 일치</a:t>
            </a:r>
            <a:r>
              <a:rPr lang="en-US" altLang="ko-KR" sz="2100" dirty="0">
                <a:solidFill>
                  <a:srgbClr val="0000FF"/>
                </a:solidFill>
              </a:rPr>
              <a:t>(longest prefix matching)</a:t>
            </a:r>
            <a:r>
              <a:rPr lang="ko-KR" altLang="en-US" sz="2100" dirty="0">
                <a:solidFill>
                  <a:srgbClr val="0000FF"/>
                </a:solidFill>
              </a:rPr>
              <a:t>하는 링크 인터페이스로 전달된다</a:t>
            </a:r>
            <a:r>
              <a:rPr lang="en-US" altLang="ko-KR" sz="2100" dirty="0">
                <a:solidFill>
                  <a:srgbClr val="0000FF"/>
                </a:solidFill>
              </a:rPr>
              <a:t>.</a:t>
            </a:r>
            <a:endParaRPr lang="ko-KR" altLang="en-US" sz="21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0DB4E86-79BB-4F16-996D-BAE2739C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4339" name="슬라이드 번호 개체 틀 2">
            <a:extLst>
              <a:ext uri="{FF2B5EF4-FFF2-40B4-BE49-F238E27FC236}">
                <a16:creationId xmlns:a16="http://schemas.microsoft.com/office/drawing/2014/main" id="{2D049997-C1D3-43C9-9323-1352DC57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20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40" name="TextBox 3">
            <a:extLst>
              <a:ext uri="{FF2B5EF4-FFF2-40B4-BE49-F238E27FC236}">
                <a16:creationId xmlns:a16="http://schemas.microsoft.com/office/drawing/2014/main" id="{C1F48D85-FBC9-4533-B577-45E22C588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62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HOL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블로킹이랑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무엇인가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이것은 입력 버퍼에서 생기는가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출력 버퍼에서 생기는가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en-US" altLang="ko-KR" sz="2100" dirty="0">
                <a:solidFill>
                  <a:srgbClr val="0000FF"/>
                </a:solidFill>
              </a:rPr>
              <a:t>HOL </a:t>
            </a:r>
            <a:r>
              <a:rPr lang="ko-KR" altLang="en-US" sz="2100" dirty="0">
                <a:solidFill>
                  <a:srgbClr val="0000FF"/>
                </a:solidFill>
              </a:rPr>
              <a:t>블로킹</a:t>
            </a:r>
            <a:r>
              <a:rPr lang="en-US" altLang="ko-KR" sz="2100" dirty="0">
                <a:solidFill>
                  <a:srgbClr val="0000FF"/>
                </a:solidFill>
              </a:rPr>
              <a:t>(</a:t>
            </a:r>
            <a:r>
              <a:rPr lang="ko-KR" altLang="en-US" sz="2100" dirty="0">
                <a:solidFill>
                  <a:srgbClr val="0000FF"/>
                </a:solidFill>
              </a:rPr>
              <a:t>차단</a:t>
            </a:r>
            <a:r>
              <a:rPr lang="en-US" altLang="ko-KR" sz="2100" dirty="0">
                <a:solidFill>
                  <a:srgbClr val="0000FF"/>
                </a:solidFill>
              </a:rPr>
              <a:t>)</a:t>
            </a:r>
            <a:r>
              <a:rPr lang="ko-KR" altLang="en-US" sz="2100" dirty="0">
                <a:solidFill>
                  <a:srgbClr val="0000FF"/>
                </a:solidFill>
              </a:rPr>
              <a:t>은 </a:t>
            </a:r>
            <a:r>
              <a:rPr lang="en-US" altLang="ko-KR" sz="2100" dirty="0">
                <a:solidFill>
                  <a:srgbClr val="0000FF"/>
                </a:solidFill>
              </a:rPr>
              <a:t> </a:t>
            </a:r>
            <a:r>
              <a:rPr lang="ko-KR" altLang="en-US" sz="2100" dirty="0">
                <a:solidFill>
                  <a:srgbClr val="0000FF"/>
                </a:solidFill>
              </a:rPr>
              <a:t>출력 포트에 전달할 사용 가능한 버퍼 공간이 없기 때문에 입력 포트 큐의 라인에 있는 첫 번째 패킷이 </a:t>
            </a:r>
            <a:r>
              <a:rPr lang="ko-KR" altLang="en-US" sz="2100" dirty="0" err="1">
                <a:solidFill>
                  <a:srgbClr val="0000FF"/>
                </a:solidFill>
              </a:rPr>
              <a:t>대기해야하는</a:t>
            </a:r>
            <a:r>
              <a:rPr lang="ko-KR" altLang="en-US" sz="2100" dirty="0">
                <a:solidFill>
                  <a:srgbClr val="0000FF"/>
                </a:solidFill>
              </a:rPr>
              <a:t> 경우가 있다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이러한 상황이 발생하면 첫 번째 패킷 뒤의 모든 패킷은 다른 출력 대기 큐에 수용할 공간이 있더라도 차단된다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즉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입력 포트에서 </a:t>
            </a:r>
            <a:r>
              <a:rPr lang="en-US" altLang="ko-KR" sz="2100" dirty="0">
                <a:solidFill>
                  <a:srgbClr val="0000FF"/>
                </a:solidFill>
              </a:rPr>
              <a:t>HOL </a:t>
            </a:r>
            <a:r>
              <a:rPr lang="ko-KR" altLang="en-US" sz="2100" dirty="0">
                <a:solidFill>
                  <a:srgbClr val="0000FF"/>
                </a:solidFill>
              </a:rPr>
              <a:t>차단이 발생한다</a:t>
            </a:r>
            <a:r>
              <a:rPr lang="en-US" altLang="ko-KR" sz="2100" dirty="0">
                <a:solidFill>
                  <a:srgbClr val="0000FF"/>
                </a:solidFill>
              </a:rPr>
              <a:t>.</a:t>
            </a:r>
            <a:endParaRPr lang="ko-KR" altLang="en-US" sz="21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5"/>
            </a:pPr>
            <a:r>
              <a:rPr lang="ko-KR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라우드로빈과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WFQ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패킷 스케줄링의 차이점은 무엇인가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라운드로빈과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WFQ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가 정확히 똑같이 동작하는 경우가 있는가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? (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힌트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: WFQ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에서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비중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(weights)</a:t>
            </a:r>
            <a:r>
              <a:rPr lang="ko-KR" altLang="en-US" sz="2100" dirty="0">
                <a:solidFill>
                  <a:srgbClr val="000000"/>
                </a:solidFill>
                <a:latin typeface="Arial" panose="020B0604020202020204" pitchFamily="34" charset="0"/>
              </a:rPr>
              <a:t>을 고려해 보아라</a:t>
            </a:r>
            <a:r>
              <a:rPr lang="en-US" altLang="ko-KR" sz="2100" dirty="0">
                <a:solidFill>
                  <a:srgbClr val="000000"/>
                </a:solidFill>
                <a:latin typeface="Arial" panose="020B0604020202020204" pitchFamily="34" charset="0"/>
              </a:rPr>
              <a:t>.)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5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en-US" altLang="ko-KR" sz="2100" dirty="0">
                <a:solidFill>
                  <a:srgbClr val="0000FF"/>
                </a:solidFill>
              </a:rPr>
              <a:t>RR</a:t>
            </a:r>
            <a:r>
              <a:rPr lang="ko-KR" altLang="en-US" sz="2100" dirty="0">
                <a:solidFill>
                  <a:srgbClr val="0000FF"/>
                </a:solidFill>
              </a:rPr>
              <a:t>을 사용하면 모든 서비스 클래스가 동일하게 처리된다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즉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다른 서비스 클래스보다 우선 순위가 높은 서비스 클래스가 없다</a:t>
            </a:r>
            <a:r>
              <a:rPr lang="en-US" altLang="ko-KR" sz="2100" dirty="0">
                <a:solidFill>
                  <a:srgbClr val="0000FF"/>
                </a:solidFill>
              </a:rPr>
              <a:t>.  WFQ</a:t>
            </a:r>
            <a:r>
              <a:rPr lang="ko-KR" altLang="en-US" sz="2100" dirty="0">
                <a:solidFill>
                  <a:srgbClr val="0000FF"/>
                </a:solidFill>
              </a:rPr>
              <a:t>를 사용하면 서비스 클래스가 다르게 처리된다</a:t>
            </a:r>
            <a:r>
              <a:rPr lang="en-US" altLang="ko-KR" sz="2100" dirty="0">
                <a:solidFill>
                  <a:srgbClr val="0000FF"/>
                </a:solidFill>
              </a:rPr>
              <a:t>. </a:t>
            </a:r>
            <a:r>
              <a:rPr lang="ko-KR" altLang="en-US" sz="2100" dirty="0">
                <a:solidFill>
                  <a:srgbClr val="0000FF"/>
                </a:solidFill>
              </a:rPr>
              <a:t>즉</a:t>
            </a:r>
            <a:r>
              <a:rPr lang="en-US" altLang="ko-KR" sz="2100" dirty="0">
                <a:solidFill>
                  <a:srgbClr val="0000FF"/>
                </a:solidFill>
              </a:rPr>
              <a:t>, </a:t>
            </a:r>
            <a:r>
              <a:rPr lang="ko-KR" altLang="en-US" sz="2100" dirty="0">
                <a:solidFill>
                  <a:srgbClr val="0000FF"/>
                </a:solidFill>
              </a:rPr>
              <a:t>각 클래스는 시간 간격에 따라 차등 서비스를 받을 수 있다</a:t>
            </a:r>
            <a:r>
              <a:rPr lang="en-US" altLang="ko-KR" sz="2100" dirty="0">
                <a:solidFill>
                  <a:srgbClr val="0000FF"/>
                </a:solidFill>
              </a:rPr>
              <a:t>.  WFQ</a:t>
            </a:r>
            <a:r>
              <a:rPr lang="ko-KR" altLang="en-US" sz="2100" dirty="0">
                <a:solidFill>
                  <a:srgbClr val="0000FF"/>
                </a:solidFill>
              </a:rPr>
              <a:t>의 모든 클래스의 서비스 가중치가 동일한 경우 </a:t>
            </a:r>
            <a:r>
              <a:rPr lang="en-US" altLang="ko-KR" sz="2100" dirty="0">
                <a:solidFill>
                  <a:srgbClr val="0000FF"/>
                </a:solidFill>
              </a:rPr>
              <a:t>WFQ</a:t>
            </a:r>
            <a:r>
              <a:rPr lang="ko-KR" altLang="en-US" sz="2100" dirty="0">
                <a:solidFill>
                  <a:srgbClr val="0000FF"/>
                </a:solidFill>
              </a:rPr>
              <a:t>는 </a:t>
            </a:r>
            <a:r>
              <a:rPr lang="en-US" altLang="ko-KR" sz="2100" dirty="0">
                <a:solidFill>
                  <a:srgbClr val="0000FF"/>
                </a:solidFill>
              </a:rPr>
              <a:t>RR</a:t>
            </a:r>
            <a:r>
              <a:rPr lang="ko-KR" altLang="en-US" sz="2100" dirty="0">
                <a:solidFill>
                  <a:srgbClr val="0000FF"/>
                </a:solidFill>
              </a:rPr>
              <a:t>과 동일하다</a:t>
            </a:r>
            <a:r>
              <a:rPr lang="en-US" altLang="ko-KR" sz="2100" dirty="0">
                <a:solidFill>
                  <a:srgbClr val="0000FF"/>
                </a:solidFill>
              </a:rPr>
              <a:t>.</a:t>
            </a:r>
            <a:endParaRPr lang="ko-KR" altLang="en-US" sz="21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5"/>
            </a:pPr>
            <a:endParaRPr lang="en-US" altLang="ko-KR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E06FB0A-8368-48F3-8F32-FB145DA3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0243" name="슬라이드 번호 개체 틀 2">
            <a:extLst>
              <a:ext uri="{FF2B5EF4-FFF2-40B4-BE49-F238E27FC236}">
                <a16:creationId xmlns:a16="http://schemas.microsoft.com/office/drawing/2014/main" id="{5DFC803A-C197-4AE8-B0CB-B94A5C66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72B211E7-F2C6-44FE-9DC1-CEE9B622E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5"/>
            <a:ext cx="88011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IP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헤더의 어떤 필드를 사용해야 패킷이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N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라우터를 초과하여 전달하지 않는가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TTL (Time-To-Live)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2"/>
            </a:pP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큰 데이터그램이 여러 가지의 작은 데이터그램들로 조각났을 때 이 작은 데이터그램들은 어디에서 큰 데이터그램으로 재조립되는가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2"/>
            </a:pPr>
            <a:endParaRPr lang="en-US" altLang="ko-KR" sz="200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en-US" altLang="ko-KR" sz="2000">
                <a:solidFill>
                  <a:srgbClr val="0000FF"/>
                </a:solidFill>
              </a:rPr>
              <a:t>IP </a:t>
            </a:r>
            <a:r>
              <a:rPr lang="ko-KR" altLang="en-US" sz="2000">
                <a:solidFill>
                  <a:srgbClr val="0000FF"/>
                </a:solidFill>
              </a:rPr>
              <a:t>데이터그램 조각의 재조립</a:t>
            </a:r>
            <a:r>
              <a:rPr lang="en-US" altLang="ko-KR" sz="2000">
                <a:solidFill>
                  <a:srgbClr val="0000FF"/>
                </a:solidFill>
              </a:rPr>
              <a:t>(reassembly)</a:t>
            </a:r>
            <a:r>
              <a:rPr lang="ko-KR" altLang="en-US" sz="2000">
                <a:solidFill>
                  <a:srgbClr val="0000FF"/>
                </a:solidFill>
              </a:rPr>
              <a:t>은 데이터그램의 목적지</a:t>
            </a:r>
            <a:r>
              <a:rPr lang="en-US" altLang="ko-KR" sz="2000">
                <a:solidFill>
                  <a:srgbClr val="0000FF"/>
                </a:solidFill>
              </a:rPr>
              <a:t>(</a:t>
            </a:r>
            <a:r>
              <a:rPr lang="ko-KR" altLang="en-US" sz="2000">
                <a:solidFill>
                  <a:srgbClr val="0000FF"/>
                </a:solidFill>
              </a:rPr>
              <a:t>도착지</a:t>
            </a:r>
            <a:r>
              <a:rPr lang="en-US" altLang="ko-KR" sz="2000">
                <a:solidFill>
                  <a:srgbClr val="0000FF"/>
                </a:solidFill>
              </a:rPr>
              <a:t>)</a:t>
            </a:r>
            <a:r>
              <a:rPr lang="ko-KR" altLang="en-US" sz="2000">
                <a:solidFill>
                  <a:srgbClr val="0000FF"/>
                </a:solidFill>
              </a:rPr>
              <a:t> 호스트에서 수행된다</a:t>
            </a:r>
            <a:r>
              <a:rPr lang="en-US" altLang="ko-KR" sz="2000">
                <a:solidFill>
                  <a:srgbClr val="0000FF"/>
                </a:solidFill>
              </a:rPr>
              <a:t>.</a:t>
            </a:r>
            <a:endParaRPr lang="ko-KR" altLang="en-US" sz="200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endParaRPr lang="en-US" altLang="ko-KR" sz="200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3"/>
            </a:pP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20msec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마다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바이트 데이터를 만드는 어플리케이션을 가정하자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각 데이터는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TCP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세그먼트로 그리고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IP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데이터그램으로 캡슐화된다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(TCP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와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IP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모두 옵션은 없다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즉 옵션은 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0 byte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이다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).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각 데이터그램의 몇 퍼센트 정도가 오버헤드인가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>
                <a:solidFill>
                  <a:srgbClr val="000000"/>
                </a:solidFill>
                <a:latin typeface="Arial" panose="020B0604020202020204" pitchFamily="34" charset="0"/>
              </a:rPr>
              <a:t>몇 퍼센트 정도가 어플리케이션 데이터인가</a:t>
            </a:r>
            <a:r>
              <a:rPr lang="en-US" altLang="ko-KR" sz="200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3"/>
            </a:pPr>
            <a:endParaRPr lang="en-US" altLang="ko-KR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50%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오버헤드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어플리케이션 데이터가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40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바이트이고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, TCP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헤더가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20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, IP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헤더가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20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바이트이므로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어플리케이션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40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 당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IP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데이터그램은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40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바이트의 오버헤드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(TCP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헤더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20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바이트와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IP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헤더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 20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바이트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)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이므로 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50%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가 어플리케이션 데이터이다</a:t>
            </a:r>
            <a:r>
              <a:rPr lang="en-US" altLang="ko-KR" sz="2000">
                <a:solidFill>
                  <a:srgbClr val="0000FF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2000">
                <a:solidFill>
                  <a:srgbClr val="0000FF"/>
                </a:solidFill>
                <a:latin typeface="Arial" panose="020B0604020202020204" pitchFamily="34" charset="0"/>
              </a:rPr>
              <a:t>  </a:t>
            </a:r>
            <a:endParaRPr lang="en-US" altLang="ko-KR" sz="20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673DBB9-DB85-44AB-B5AB-D7BF0B84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2275" y="6462714"/>
            <a:ext cx="2895600" cy="28733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Homework</a:t>
            </a:r>
          </a:p>
        </p:txBody>
      </p:sp>
      <p:sp>
        <p:nvSpPr>
          <p:cNvPr id="12291" name="슬라이드 번호 개체 틀 2">
            <a:extLst>
              <a:ext uri="{FF2B5EF4-FFF2-40B4-BE49-F238E27FC236}">
                <a16:creationId xmlns:a16="http://schemas.microsoft.com/office/drawing/2014/main" id="{67CDE6C5-0656-42E4-AF31-E514EF30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8825" y="6462714"/>
            <a:ext cx="97155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월 </a:t>
            </a:r>
            <a:r>
              <a:rPr lang="en-US" altLang="ko-KR" sz="1200">
                <a:solidFill>
                  <a:srgbClr val="000000"/>
                </a:solidFill>
                <a:latin typeface="Tahoma" panose="020B0604030504040204" pitchFamily="34" charset="0"/>
              </a:rPr>
              <a:t>10</a:t>
            </a:r>
            <a:r>
              <a:rPr lang="ko-KR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일</a:t>
            </a:r>
            <a:endParaRPr lang="en-US" altLang="ko-KR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26D9BBFE-908F-40CF-AFB8-E8FBDF41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69876"/>
            <a:ext cx="880110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4"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경로 요약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(route aggregation)”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 의미는 무엇인가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라우터가 경로 요약을 수행하는 것이 유용한 이유는 무엇인가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4"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맑은 고딕" panose="020B0503020000020004" pitchFamily="50" charset="-127"/>
              <a:buChar char="→"/>
            </a:pPr>
            <a:r>
              <a:rPr lang="ko-KR" altLang="en-US" sz="2000" dirty="0">
                <a:solidFill>
                  <a:srgbClr val="0000FF"/>
                </a:solidFill>
              </a:rPr>
              <a:t>경로 요약</a:t>
            </a:r>
            <a:r>
              <a:rPr lang="en-US" altLang="ko-KR" sz="2000" dirty="0">
                <a:solidFill>
                  <a:srgbClr val="0000FF"/>
                </a:solidFill>
              </a:rPr>
              <a:t>(route aggregation)</a:t>
            </a:r>
            <a:r>
              <a:rPr lang="ko-KR" altLang="en-US" sz="2000" dirty="0">
                <a:solidFill>
                  <a:srgbClr val="0000FF"/>
                </a:solidFill>
              </a:rPr>
              <a:t>은 </a:t>
            </a:r>
            <a:r>
              <a:rPr lang="en-US" altLang="ko-KR" sz="2000" dirty="0">
                <a:solidFill>
                  <a:srgbClr val="0000FF"/>
                </a:solidFill>
              </a:rPr>
              <a:t>ISP</a:t>
            </a:r>
            <a:r>
              <a:rPr lang="ko-KR" altLang="en-US" sz="2000" dirty="0">
                <a:solidFill>
                  <a:srgbClr val="0000FF"/>
                </a:solidFill>
              </a:rPr>
              <a:t>가 단일 접두사</a:t>
            </a:r>
            <a:r>
              <a:rPr lang="en-US" altLang="ko-KR" sz="2000" dirty="0">
                <a:solidFill>
                  <a:srgbClr val="0000FF"/>
                </a:solidFill>
              </a:rPr>
              <a:t>(prefix)</a:t>
            </a:r>
            <a:r>
              <a:rPr lang="ko-KR" altLang="en-US" sz="2000" dirty="0">
                <a:solidFill>
                  <a:srgbClr val="0000FF"/>
                </a:solidFill>
              </a:rPr>
              <a:t>를 사용하여 여러 네트워크를 알리는 것을 의미한다</a:t>
            </a:r>
            <a:r>
              <a:rPr lang="en-US" altLang="ko-KR" sz="2000" dirty="0">
                <a:solidFill>
                  <a:srgbClr val="0000FF"/>
                </a:solidFill>
              </a:rPr>
              <a:t>. ISP</a:t>
            </a:r>
            <a:r>
              <a:rPr lang="ko-KR" altLang="en-US" sz="2000" dirty="0">
                <a:solidFill>
                  <a:srgbClr val="0000FF"/>
                </a:solidFill>
              </a:rPr>
              <a:t>는 이 기술을 사용하여 </a:t>
            </a:r>
            <a:r>
              <a:rPr lang="en-US" altLang="ko-KR" sz="2000" dirty="0">
                <a:solidFill>
                  <a:srgbClr val="0000FF"/>
                </a:solidFill>
              </a:rPr>
              <a:t>ISP</a:t>
            </a:r>
            <a:r>
              <a:rPr lang="ko-KR" altLang="en-US" sz="2000" dirty="0">
                <a:solidFill>
                  <a:srgbClr val="0000FF"/>
                </a:solidFill>
              </a:rPr>
              <a:t>에 있는 여러 네트워크에 대한 단일 접두사</a:t>
            </a:r>
            <a:r>
              <a:rPr lang="en-US" altLang="ko-KR" sz="2000" dirty="0">
                <a:solidFill>
                  <a:srgbClr val="0000FF"/>
                </a:solidFill>
              </a:rPr>
              <a:t>(prefix)</a:t>
            </a:r>
            <a:r>
              <a:rPr lang="ko-KR" altLang="en-US" sz="2000" dirty="0">
                <a:solidFill>
                  <a:srgbClr val="0000FF"/>
                </a:solidFill>
              </a:rPr>
              <a:t> 주소를 인터넷에 알리기 때문에 경로 요약이 유용하다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4"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Gill Sans MT" panose="020B0502020104020203" pitchFamily="34" charset="0"/>
              <a:buAutoNum type="arabicPeriod" startAt="5"/>
            </a:pP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플러그 앤 플레이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”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또는 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ko-K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zeroconf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프로토콜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ko-KR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의 의미는 무엇인가</a:t>
            </a:r>
            <a:r>
              <a:rPr lang="en-US" altLang="ko-KR" sz="20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rabicPeriod" startAt="5"/>
            </a:pPr>
            <a:endParaRPr lang="en-US" altLang="ko-KR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맑은 고딕" panose="020B0503020000020004" pitchFamily="50" charset="-127"/>
              <a:buChar char="→"/>
            </a:pPr>
            <a:r>
              <a:rPr lang="ko-KR" altLang="en-US" sz="2000" dirty="0">
                <a:solidFill>
                  <a:srgbClr val="0000FF"/>
                </a:solidFill>
              </a:rPr>
              <a:t>플러그 앤 플레이 또는 </a:t>
            </a:r>
            <a:r>
              <a:rPr lang="en-US" altLang="ko-KR" sz="2000" dirty="0" err="1">
                <a:solidFill>
                  <a:srgbClr val="0000FF"/>
                </a:solidFill>
              </a:rPr>
              <a:t>zeroconf</a:t>
            </a:r>
            <a:r>
              <a:rPr lang="en-US" altLang="ko-KR" sz="2000" dirty="0">
                <a:solidFill>
                  <a:srgbClr val="0000FF"/>
                </a:solidFill>
              </a:rPr>
              <a:t> </a:t>
            </a:r>
            <a:r>
              <a:rPr lang="ko-KR" altLang="en-US" sz="2000" dirty="0">
                <a:solidFill>
                  <a:srgbClr val="0000FF"/>
                </a:solidFill>
              </a:rPr>
              <a:t>프로토콜은 프로토콜이 호스트를 네트워크에 연결하기 위해 호스트의 네트워크 관련 측면을 자동으로 구성 할 수 있음을 의미한다</a:t>
            </a:r>
            <a:r>
              <a:rPr lang="en-US" altLang="ko-KR" sz="2000" dirty="0">
                <a:solidFill>
                  <a:srgbClr val="0000FF"/>
                </a:solidFill>
              </a:rPr>
              <a:t>. </a:t>
            </a:r>
            <a:endParaRPr lang="ko-KR" altLang="en-US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1930</Words>
  <Application>Microsoft Office PowerPoint</Application>
  <PresentationFormat>와이드스크린</PresentationFormat>
  <Paragraphs>140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맑은 고딕</vt:lpstr>
      <vt:lpstr>Arial</vt:lpstr>
      <vt:lpstr>Gill Sans MT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Seyoung Park</dc:creator>
  <cp:lastModifiedBy>Seyoung Park</cp:lastModifiedBy>
  <cp:revision>8</cp:revision>
  <dcterms:created xsi:type="dcterms:W3CDTF">2020-06-20T11:08:59Z</dcterms:created>
  <dcterms:modified xsi:type="dcterms:W3CDTF">2020-06-20T11:17:48Z</dcterms:modified>
</cp:coreProperties>
</file>